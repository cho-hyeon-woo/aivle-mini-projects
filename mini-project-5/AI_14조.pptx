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76691-805D-46D2-BA0E-E94C256DD2E3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4EE05-07A5-45E0-B86B-A8325930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572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표지 : 이미지 교체 예정</a:t>
            </a:r>
            <a:endParaRPr/>
          </a:p>
        </p:txBody>
      </p:sp>
      <p:sp>
        <p:nvSpPr>
          <p:cNvPr id="128" name="Google Shape;1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ed64d507b_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ed64d507b_6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eed64d507b_6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ed64d507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eed64d507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ed64d507b_7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ed64d507b_7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ed64d507b_9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eed64d507b_9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ed64d507b_9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eed64d507b_9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ed64d507b_6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ed64d507b_6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eed64d507b_6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/>
          </a:p>
        </p:txBody>
      </p:sp>
      <p:sp>
        <p:nvSpPr>
          <p:cNvPr id="348" name="Google Shape;3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1D75D-054A-4B4A-918C-AA87C73F2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F57FFD-763B-4D16-8913-4F03FC3B7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8D856-1136-4427-8865-DE9CAD24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652E3D-C7ED-4867-84F5-C531005A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63914-92DC-43DA-87C9-EEDA3764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4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9FF6C-E01D-4D57-9811-F8144CC2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9EC76-5585-4F79-8A23-50F2BC99B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84703-B68A-4385-8717-7EDCAA75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72CD8-1A3A-4B21-97D7-6ED44A30D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BD412B-7BC1-4539-8A69-0644A6B9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71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00BFD-8C9B-44FD-9B6F-71C5A3BC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3EBE9C-32A9-4BA0-8420-1AC144FAA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1C28B-55F7-4CAD-9873-DD704158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C5C2D2-6962-49D2-B095-F4E3C95E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DFC23-3E4E-4B67-8D7E-7446EEED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70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69F90-C7DA-410C-B2DC-9454B19D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ADD697-C4E5-41F9-9F11-C6650C586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C32C43-87B3-4F7E-81B9-556AABCC4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BD1ADC-89D7-40BB-91EB-9E89DEB7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2060FD-73BC-49BE-ADA2-A2854554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3D68ED-535A-4CCD-B2E8-36670349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84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8C749-023A-45FF-B8BD-6F1DFFE3F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62D635-D955-4627-A2F9-9F2970869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67825E-FF02-49A3-84D0-C2C1EBA86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F711F6-3511-4633-88E9-7E5328E8D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3473A7-C47F-469E-8F93-157087D3D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454A4E-55C3-4CE8-A75C-2811941D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B46B98-EE0E-4941-976E-0EDF4CB5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907CFF-0E52-4883-ACD6-FE1819C5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39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3E0BB-14D5-41F7-91F1-E312161A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9E2745-1EED-40FB-B7C8-03160856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B630A0-3BB9-4A0B-BE7D-2482783E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62BB91-D920-43BA-8C3F-6B629F90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61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60EF8F-E587-41B3-8CFA-6F36BC35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12E27E-78BA-4CEC-85B1-44F2EC0D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3913A-1FD4-49C8-AEF7-66621BBA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95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7A441-8B7B-47B5-87F9-DFFEA785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91696-D2FB-4034-88FD-22BF50D5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9943D0-9B46-47DF-8D96-D5B71FB77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2E76B4-C4F8-4066-8E46-4462D273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D436E-7DC7-4969-A6CE-3BFB72CD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CDBBE8-C166-49B3-AF3A-7257C88F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2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1A4E3-8A16-4592-8101-35D3F040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E82CBE-BD3A-4832-B107-A2A684F81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336530-C62A-4188-BDE8-3B648BEB5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E0B8FF-435F-434E-AC2A-4E67DB86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39B8EB-FDFA-4242-8336-0AB78D57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EF73FA-4DA7-4FEB-A134-FAFC86E5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13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88CA4-0B5C-48FA-BEA0-F97CD3D4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1977C9-89D2-4BE3-BC6D-F446B1E1C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BC6F7A-7E32-4F66-A9FD-BAE8C0CC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81E0E-F544-4403-91E6-B68281B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66F87D-75D6-4D24-9BA5-0ECBDA4C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13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AC6ED5-344B-44BE-AEBD-12B53A546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8A0E1C-20AB-498C-A65B-F6884D86E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C9476-48DE-4629-88FD-6D090336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8FD02-2E2F-4E3E-BB18-A510863D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619FB-0474-4FAB-96D1-F1A3681E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846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6"/>
          <p:cNvCxnSpPr/>
          <p:nvPr/>
        </p:nvCxnSpPr>
        <p:spPr>
          <a:xfrm>
            <a:off x="862205" y="2286002"/>
            <a:ext cx="0" cy="1069751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" name="Google Shape;18;p16"/>
          <p:cNvSpPr txBox="1"/>
          <p:nvPr/>
        </p:nvSpPr>
        <p:spPr>
          <a:xfrm>
            <a:off x="983634" y="2095203"/>
            <a:ext cx="8245703" cy="145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33" rIns="112500" bIns="562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>
                <a:solidFill>
                  <a:srgbClr val="02BDB6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sz="2400"/>
          </a:p>
        </p:txBody>
      </p:sp>
      <p:sp>
        <p:nvSpPr>
          <p:cNvPr id="19" name="Google Shape;19;p16"/>
          <p:cNvSpPr/>
          <p:nvPr/>
        </p:nvSpPr>
        <p:spPr>
          <a:xfrm>
            <a:off x="9765916" y="6335314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6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0966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6"/>
          <p:cNvSpPr txBox="1">
            <a:spLocks noGrp="1"/>
          </p:cNvSpPr>
          <p:nvPr>
            <p:ph type="body" idx="1"/>
          </p:nvPr>
        </p:nvSpPr>
        <p:spPr>
          <a:xfrm>
            <a:off x="1036004" y="2732725"/>
            <a:ext cx="8402637" cy="8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2545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1" y="-1"/>
            <a:ext cx="3690851" cy="6858000"/>
          </a:xfrm>
          <a:prstGeom prst="rect">
            <a:avLst/>
          </a:prstGeom>
          <a:solidFill>
            <a:srgbClr val="C8E7E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7"/>
          <p:cNvSpPr/>
          <p:nvPr/>
        </p:nvSpPr>
        <p:spPr>
          <a:xfrm>
            <a:off x="448364" y="1134499"/>
            <a:ext cx="2340000" cy="180000"/>
          </a:xfrm>
          <a:custGeom>
            <a:avLst/>
            <a:gdLst/>
            <a:ahLst/>
            <a:cxnLst/>
            <a:rect l="l" t="t" r="r" b="b"/>
            <a:pathLst>
              <a:path w="1913254" h="139064" extrusionOk="0">
                <a:moveTo>
                  <a:pt x="1890140" y="0"/>
                </a:moveTo>
                <a:lnTo>
                  <a:pt x="23113" y="0"/>
                </a:lnTo>
                <a:lnTo>
                  <a:pt x="14091" y="1825"/>
                </a:lnTo>
                <a:lnTo>
                  <a:pt x="6746" y="6794"/>
                </a:lnTo>
                <a:lnTo>
                  <a:pt x="1807" y="14144"/>
                </a:lnTo>
                <a:lnTo>
                  <a:pt x="0" y="23113"/>
                </a:lnTo>
                <a:lnTo>
                  <a:pt x="0" y="115824"/>
                </a:lnTo>
                <a:lnTo>
                  <a:pt x="1807" y="124793"/>
                </a:lnTo>
                <a:lnTo>
                  <a:pt x="6746" y="132143"/>
                </a:lnTo>
                <a:lnTo>
                  <a:pt x="14091" y="137112"/>
                </a:lnTo>
                <a:lnTo>
                  <a:pt x="23113" y="138937"/>
                </a:lnTo>
                <a:lnTo>
                  <a:pt x="1890140" y="138937"/>
                </a:lnTo>
                <a:lnTo>
                  <a:pt x="1899110" y="137112"/>
                </a:lnTo>
                <a:lnTo>
                  <a:pt x="1906460" y="132143"/>
                </a:lnTo>
                <a:lnTo>
                  <a:pt x="1911429" y="124793"/>
                </a:lnTo>
                <a:lnTo>
                  <a:pt x="1913254" y="115824"/>
                </a:lnTo>
                <a:lnTo>
                  <a:pt x="1913254" y="23113"/>
                </a:lnTo>
                <a:lnTo>
                  <a:pt x="1911429" y="14144"/>
                </a:lnTo>
                <a:lnTo>
                  <a:pt x="1906460" y="6794"/>
                </a:lnTo>
                <a:lnTo>
                  <a:pt x="1899110" y="1825"/>
                </a:lnTo>
                <a:lnTo>
                  <a:pt x="1890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7"/>
          <p:cNvSpPr txBox="1"/>
          <p:nvPr/>
        </p:nvSpPr>
        <p:spPr>
          <a:xfrm>
            <a:off x="332299" y="660144"/>
            <a:ext cx="2556047" cy="75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33" rIns="112500" bIns="562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" b="1" i="0" u="none" strike="noStrike" cap="none">
                <a:solidFill>
                  <a:srgbClr val="67BDC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>
                <a:solidFill>
                  <a:srgbClr val="165D69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2800" b="1" i="0" u="none" strike="noStrike" cap="none">
              <a:solidFill>
                <a:srgbClr val="165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3666" y="162081"/>
            <a:ext cx="1068039" cy="243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6482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-60972"/>
            <a:ext cx="12192000" cy="4898571"/>
          </a:xfrm>
          <a:prstGeom prst="rect">
            <a:avLst/>
          </a:prstGeom>
          <a:solidFill>
            <a:srgbClr val="C8E7E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3666" y="162081"/>
            <a:ext cx="1068039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637375" y="1410790"/>
            <a:ext cx="10515600" cy="118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9321800" y="64928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637375" y="940899"/>
            <a:ext cx="6635613" cy="46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65D69"/>
              </a:buClr>
              <a:buSzPts val="2700"/>
              <a:buNone/>
              <a:defRPr sz="3600" b="1">
                <a:solidFill>
                  <a:srgbClr val="165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9298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/>
          <p:nvPr/>
        </p:nvSpPr>
        <p:spPr>
          <a:xfrm>
            <a:off x="115330" y="1145059"/>
            <a:ext cx="11949671" cy="53478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427037" y="1401764"/>
            <a:ext cx="11307763" cy="491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828754" lvl="2" indent="-4317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2438339" lvl="3" indent="-4190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3047924" lvl="4" indent="-4190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3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19"/>
          <p:cNvSpPr/>
          <p:nvPr/>
        </p:nvSpPr>
        <p:spPr>
          <a:xfrm>
            <a:off x="-1103457" y="1594968"/>
            <a:ext cx="720000" cy="720000"/>
          </a:xfrm>
          <a:prstGeom prst="roundRect">
            <a:avLst>
              <a:gd name="adj" fmla="val 0"/>
            </a:avLst>
          </a:prstGeom>
          <a:solidFill>
            <a:srgbClr val="30AEAA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9"/>
          <p:cNvSpPr/>
          <p:nvPr/>
        </p:nvSpPr>
        <p:spPr>
          <a:xfrm>
            <a:off x="-1103457" y="674020"/>
            <a:ext cx="720000" cy="720000"/>
          </a:xfrm>
          <a:prstGeom prst="roundRect">
            <a:avLst>
              <a:gd name="adj" fmla="val 0"/>
            </a:avLst>
          </a:prstGeom>
          <a:solidFill>
            <a:srgbClr val="204F55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9"/>
          <p:cNvSpPr/>
          <p:nvPr/>
        </p:nvSpPr>
        <p:spPr>
          <a:xfrm>
            <a:off x="-1103457" y="2515916"/>
            <a:ext cx="720000" cy="720000"/>
          </a:xfrm>
          <a:prstGeom prst="roundRect">
            <a:avLst>
              <a:gd name="adj" fmla="val 0"/>
            </a:avLst>
          </a:prstGeom>
          <a:solidFill>
            <a:srgbClr val="C7E3E4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-1103457" y="3436864"/>
            <a:ext cx="720000" cy="720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9"/>
          <p:cNvSpPr/>
          <p:nvPr/>
        </p:nvSpPr>
        <p:spPr>
          <a:xfrm>
            <a:off x="-1103457" y="4357812"/>
            <a:ext cx="720000" cy="720000"/>
          </a:xfrm>
          <a:prstGeom prst="roundRect">
            <a:avLst>
              <a:gd name="adj" fmla="val 0"/>
            </a:avLst>
          </a:prstGeom>
          <a:solidFill>
            <a:srgbClr val="FF572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5489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4561"/>
            <a:ext cx="12192000" cy="750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190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F0F4F-CCDC-4AC1-A94C-806E304AF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E3C5A3-ED20-4903-9727-7AA1D167E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CFFF46-CE67-4A25-B016-268C6CC00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C0ADF-F797-4243-A833-04F162935A6F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345E1-27C6-44DA-A490-548F57D8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00BAB4-44D4-41CB-B3E8-B84BF49E7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A4770-9E0E-409A-B039-1B0E4F4A1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5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o-hyeon-woo/mini-project4-library.gi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 txBox="1">
            <a:spLocks noGrp="1"/>
          </p:cNvSpPr>
          <p:nvPr>
            <p:ph type="body" idx="1"/>
          </p:nvPr>
        </p:nvSpPr>
        <p:spPr>
          <a:xfrm>
            <a:off x="1036003" y="2558562"/>
            <a:ext cx="9015197" cy="17408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도서관리시스템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개발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SzPts val="2400"/>
            </a:pPr>
            <a:r>
              <a:rPr lang="en-US" sz="3200" b="0" dirty="0"/>
              <a:t>(</a:t>
            </a:r>
            <a:r>
              <a:rPr lang="en-US" sz="3200" b="0" dirty="0" err="1"/>
              <a:t>AI를</a:t>
            </a:r>
            <a:r>
              <a:rPr lang="en-US" sz="3200" b="0" dirty="0"/>
              <a:t> </a:t>
            </a:r>
            <a:r>
              <a:rPr lang="en-US" sz="3200" b="0" dirty="0" err="1"/>
              <a:t>활용한</a:t>
            </a:r>
            <a:r>
              <a:rPr lang="en-US" sz="3200" b="0" dirty="0"/>
              <a:t> </a:t>
            </a:r>
            <a:r>
              <a:rPr lang="en-US" sz="3200" b="0" dirty="0" err="1"/>
              <a:t>도서표지</a:t>
            </a:r>
            <a:r>
              <a:rPr lang="en-US" sz="3200" b="0" dirty="0"/>
              <a:t> </a:t>
            </a:r>
            <a:r>
              <a:rPr lang="en-US" sz="3200" b="0" dirty="0" err="1"/>
              <a:t>이미지</a:t>
            </a:r>
            <a:r>
              <a:rPr lang="en-US" sz="3200" b="0" dirty="0"/>
              <a:t> </a:t>
            </a:r>
            <a:r>
              <a:rPr lang="en-US" sz="3200" b="0" dirty="0" err="1"/>
              <a:t>생성</a:t>
            </a:r>
            <a:r>
              <a:rPr lang="en-US" sz="3200" b="0" dirty="0"/>
              <a:t>)</a:t>
            </a:r>
            <a:endParaRPr sz="3200" b="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SzPts val="2400"/>
            </a:pPr>
            <a:r>
              <a:rPr lang="en-US" sz="1600" b="0" dirty="0"/>
              <a:t>5반 14조: </a:t>
            </a:r>
            <a:r>
              <a:rPr lang="en-US" sz="1600" b="0" dirty="0" err="1"/>
              <a:t>김석주</a:t>
            </a:r>
            <a:r>
              <a:rPr lang="en-US" sz="1600" b="0" dirty="0"/>
              <a:t>, </a:t>
            </a:r>
            <a:r>
              <a:rPr lang="en-US" sz="1600" b="0" dirty="0" err="1"/>
              <a:t>김재성</a:t>
            </a:r>
            <a:r>
              <a:rPr lang="en-US" sz="1600" b="0" dirty="0"/>
              <a:t>, </a:t>
            </a:r>
            <a:r>
              <a:rPr lang="en-US" sz="1600" b="0" dirty="0" err="1"/>
              <a:t>안주현</a:t>
            </a:r>
            <a:r>
              <a:rPr lang="en-US" sz="1600" b="0" dirty="0"/>
              <a:t>, 오승헌, </a:t>
            </a:r>
            <a:r>
              <a:rPr lang="en-US" sz="1600" b="0" dirty="0" err="1"/>
              <a:t>정민호</a:t>
            </a:r>
            <a:r>
              <a:rPr lang="en-US" sz="1600" b="0" dirty="0"/>
              <a:t>, </a:t>
            </a:r>
            <a:r>
              <a:rPr lang="en-US" sz="1600" b="0" dirty="0" err="1"/>
              <a:t>정영환</a:t>
            </a:r>
            <a:r>
              <a:rPr lang="en-US" sz="1600" b="0" dirty="0"/>
              <a:t>, </a:t>
            </a:r>
            <a:r>
              <a:rPr lang="en-US" sz="1600" b="0" dirty="0" err="1"/>
              <a:t>조현우</a:t>
            </a:r>
            <a:endParaRPr sz="1600" b="0"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036003" y="1536495"/>
            <a:ext cx="8402637" cy="8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미니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"/>
          <p:cNvGrpSpPr/>
          <p:nvPr/>
        </p:nvGrpSpPr>
        <p:grpSpPr>
          <a:xfrm>
            <a:off x="4766016" y="1973101"/>
            <a:ext cx="2660069" cy="579000"/>
            <a:chOff x="4436061" y="2287526"/>
            <a:chExt cx="2660069" cy="579000"/>
          </a:xfrm>
        </p:grpSpPr>
        <p:sp>
          <p:nvSpPr>
            <p:cNvPr id="137" name="Google Shape;137;p2"/>
            <p:cNvSpPr txBox="1"/>
            <p:nvPr/>
          </p:nvSpPr>
          <p:spPr>
            <a:xfrm>
              <a:off x="4436061" y="2287526"/>
              <a:ext cx="8517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500" tIns="56233" rIns="112500" bIns="56233" anchor="ctr" anchorCtr="0">
              <a:noAutofit/>
            </a:bodyPr>
            <a:lstStyle/>
            <a:p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01. </a:t>
              </a:r>
              <a:endParaRPr sz="2400"/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5287730" y="2343326"/>
              <a:ext cx="1808400" cy="5231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6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ERD설계</a:t>
              </a:r>
              <a:endParaRPr sz="2400" dirty="0"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4740568" y="2866667"/>
            <a:ext cx="3103153" cy="579000"/>
            <a:chOff x="4446001" y="2488755"/>
            <a:chExt cx="2598938" cy="579000"/>
          </a:xfrm>
        </p:grpSpPr>
        <p:sp>
          <p:nvSpPr>
            <p:cNvPr id="140" name="Google Shape;140;p2"/>
            <p:cNvSpPr txBox="1"/>
            <p:nvPr/>
          </p:nvSpPr>
          <p:spPr>
            <a:xfrm>
              <a:off x="4446001" y="2488755"/>
              <a:ext cx="8868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500" tIns="56233" rIns="112500" bIns="56233" anchor="ctr" anchorCtr="0">
              <a:noAutofit/>
            </a:bodyPr>
            <a:lstStyle/>
            <a:p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02.</a:t>
              </a:r>
              <a:endParaRPr sz="2400"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5287619" y="2532099"/>
              <a:ext cx="1757320" cy="5231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API 정</a:t>
              </a:r>
              <a:r>
                <a:rPr lang="ko-KR" altLang="en-US" sz="2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의</a:t>
              </a:r>
              <a:r>
                <a:rPr lang="en-US" sz="2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서</a:t>
              </a:r>
              <a:endParaRPr sz="2400" dirty="0"/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4765999" y="3760233"/>
            <a:ext cx="3322319" cy="579000"/>
            <a:chOff x="4445988" y="2488753"/>
            <a:chExt cx="2847701" cy="579000"/>
          </a:xfrm>
        </p:grpSpPr>
        <p:sp>
          <p:nvSpPr>
            <p:cNvPr id="143" name="Google Shape;143;p2"/>
            <p:cNvSpPr txBox="1"/>
            <p:nvPr/>
          </p:nvSpPr>
          <p:spPr>
            <a:xfrm>
              <a:off x="4445988" y="2488753"/>
              <a:ext cx="765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500" tIns="56233" rIns="112500" bIns="56233" anchor="ctr" anchorCtr="0">
              <a:noAutofit/>
            </a:bodyPr>
            <a:lstStyle/>
            <a:p>
              <a:r>
                <a:rPr lang="en-US" sz="32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03.</a:t>
              </a:r>
              <a:endParaRPr sz="2400"/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5130389" y="2516649"/>
              <a:ext cx="2163300" cy="5231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en-US" sz="26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UI스케치</a:t>
              </a:r>
              <a:r>
                <a:rPr lang="en-US" sz="2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600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작성</a:t>
              </a:r>
              <a:endParaRPr sz="2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>
            <a:spLocks noGrp="1"/>
          </p:cNvSpPr>
          <p:nvPr>
            <p:ph type="title"/>
          </p:nvPr>
        </p:nvSpPr>
        <p:spPr>
          <a:xfrm>
            <a:off x="637375" y="1410790"/>
            <a:ext cx="10515600" cy="1186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ERD설계</a:t>
            </a:r>
            <a:endParaRPr/>
          </a:p>
        </p:txBody>
      </p:sp>
      <p:sp>
        <p:nvSpPr>
          <p:cNvPr id="150" name="Google Shape;150;p3"/>
          <p:cNvSpPr txBox="1">
            <a:spLocks noGrp="1"/>
          </p:cNvSpPr>
          <p:nvPr>
            <p:ph type="body" idx="1"/>
          </p:nvPr>
        </p:nvSpPr>
        <p:spPr>
          <a:xfrm>
            <a:off x="637375" y="940899"/>
            <a:ext cx="6635613" cy="4698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/>
              <a:t>01.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ERD설계</a:t>
            </a:r>
            <a:endParaRPr/>
          </a:p>
        </p:txBody>
      </p:sp>
      <p:sp>
        <p:nvSpPr>
          <p:cNvPr id="156" name="Google Shape;156;p5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  <p:pic>
        <p:nvPicPr>
          <p:cNvPr id="157" name="Google Shape;15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050" y="1073534"/>
            <a:ext cx="5901900" cy="5452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ed64d507b_6_1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5</a:t>
            </a:fld>
            <a:endParaRPr/>
          </a:p>
        </p:txBody>
      </p:sp>
      <p:sp>
        <p:nvSpPr>
          <p:cNvPr id="164" name="Google Shape;164;g3eed64d507b_6_1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ERD 테스트용</a:t>
            </a:r>
            <a:endParaRPr/>
          </a:p>
        </p:txBody>
      </p:sp>
      <p:pic>
        <p:nvPicPr>
          <p:cNvPr id="165" name="Google Shape;165;g3eed64d507b_6_1" title="User Engagement in Book-2026-06-12-0126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693" y="-4989567"/>
            <a:ext cx="5046484" cy="49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eed64d507b_6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101" y="1172633"/>
            <a:ext cx="9511556" cy="5353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eed64d507b_6_1"/>
          <p:cNvSpPr txBox="1"/>
          <p:nvPr/>
        </p:nvSpPr>
        <p:spPr>
          <a:xfrm>
            <a:off x="1836733" y="-3885100"/>
            <a:ext cx="921600" cy="9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637375" y="1410790"/>
            <a:ext cx="10515600" cy="1186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API 정의서</a:t>
            </a:r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1"/>
          </p:nvPr>
        </p:nvSpPr>
        <p:spPr>
          <a:xfrm>
            <a:off x="637375" y="940899"/>
            <a:ext cx="6635613" cy="4698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/>
              <a:t>02.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API 정의서</a:t>
            </a:r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7</a:t>
            </a:fld>
            <a:endParaRPr/>
          </a:p>
        </p:txBody>
      </p:sp>
      <p:pic>
        <p:nvPicPr>
          <p:cNvPr id="180" name="Google Shape;18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1" y="1093834"/>
            <a:ext cx="11252900" cy="5450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ed64d507b_0_1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API 정의서</a:t>
            </a:r>
            <a:endParaRPr/>
          </a:p>
        </p:txBody>
      </p:sp>
      <p:sp>
        <p:nvSpPr>
          <p:cNvPr id="186" name="Google Shape;186;g3eed64d507b_0_1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8</a:t>
            </a:fld>
            <a:endParaRPr/>
          </a:p>
        </p:txBody>
      </p:sp>
      <p:graphicFrame>
        <p:nvGraphicFramePr>
          <p:cNvPr id="187" name="Google Shape;187;g3eed64d507b_0_1"/>
          <p:cNvGraphicFramePr/>
          <p:nvPr/>
        </p:nvGraphicFramePr>
        <p:xfrm>
          <a:off x="641767" y="1581300"/>
          <a:ext cx="10908467" cy="47065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2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1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0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91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6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4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500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(메뉴)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 이름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Method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REST API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입력데이터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반환데이터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오류데이터</a:t>
                      </a:r>
                      <a:endParaRPr sz="150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0:7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Common</a:t>
                      </a:r>
                      <a:endParaRPr sz="15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User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회원가입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POST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/users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Body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{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</a:t>
                      </a:r>
                      <a:r>
                        <a:rPr lang="en-US" sz="1300" dirty="0" err="1"/>
                        <a:t>loginId</a:t>
                      </a:r>
                      <a:r>
                        <a:rPr lang="en-US" sz="1300" dirty="0"/>
                        <a:t>": "String",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"password": "String",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"name": "String"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}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code: 201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{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</a:t>
                      </a:r>
                      <a:r>
                        <a:rPr lang="en-US" sz="1300" dirty="0" err="1"/>
                        <a:t>userId</a:t>
                      </a:r>
                      <a:r>
                        <a:rPr lang="en-US" sz="1300" dirty="0"/>
                        <a:t>": 1,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</a:t>
                      </a:r>
                      <a:r>
                        <a:rPr lang="en-US" sz="1300" dirty="0" err="1"/>
                        <a:t>loginId</a:t>
                      </a:r>
                      <a:r>
                        <a:rPr lang="en-US" sz="1300" dirty="0"/>
                        <a:t>": "user01",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"name": "</a:t>
                      </a:r>
                      <a:r>
                        <a:rPr lang="en-US" sz="1300" dirty="0" err="1"/>
                        <a:t>홍길동</a:t>
                      </a:r>
                      <a:r>
                        <a:rPr lang="en-US" sz="1300" dirty="0"/>
                        <a:t>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</a:t>
                      </a:r>
                      <a:r>
                        <a:rPr lang="en-US" sz="1300" dirty="0" err="1"/>
                        <a:t>createdAt</a:t>
                      </a:r>
                      <a:r>
                        <a:rPr lang="en-US" sz="1300" dirty="0"/>
                        <a:t>": "2026-06-10T15:00:00"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}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중복 아이디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code: 409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{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"timestamp": "...",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"status": 409,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"error": "Conflict",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"path": "/users"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}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reason: Already registered </a:t>
                      </a:r>
                      <a:r>
                        <a:rPr lang="en-US" sz="1300" dirty="0" err="1"/>
                        <a:t>loginId</a:t>
                      </a:r>
                      <a:r>
                        <a:rPr lang="en-US" sz="1300" dirty="0"/>
                        <a:t>.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/>
                        <a:t>입력값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검증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실패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code: 400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{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"error": "Validation failed",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"message": "must not be blank"</a:t>
                      </a:r>
                      <a:endParaRPr sz="1300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}</a:t>
                      </a:r>
                      <a:endParaRPr sz="1300" dirty="0"/>
                    </a:p>
                  </a:txBody>
                  <a:tcPr marL="38100" marR="38100" marT="121900" marB="121900" anchor="ctr">
                    <a:lnL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7:1:7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637375" y="1410790"/>
            <a:ext cx="10515600" cy="1186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UI 스케치 작성</a:t>
            </a:r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body" idx="1"/>
          </p:nvPr>
        </p:nvSpPr>
        <p:spPr>
          <a:xfrm>
            <a:off x="637375" y="940899"/>
            <a:ext cx="6635613" cy="4698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/>
              <a:t>03.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9"/>
          <p:cNvGraphicFramePr/>
          <p:nvPr/>
        </p:nvGraphicFramePr>
        <p:xfrm>
          <a:off x="177802" y="1266456"/>
          <a:ext cx="8205367" cy="5201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00">
                <a:tc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 sz="2400" dirty="0"/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3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9867">
                <a:tc gridSpan="2"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UI 스케치 작성</a:t>
            </a:r>
            <a:endParaRPr/>
          </a:p>
        </p:txBody>
      </p:sp>
      <p:graphicFrame>
        <p:nvGraphicFramePr>
          <p:cNvPr id="200" name="Google Shape;200;p9"/>
          <p:cNvGraphicFramePr/>
          <p:nvPr/>
        </p:nvGraphicFramePr>
        <p:xfrm>
          <a:off x="8600559" y="1266456"/>
          <a:ext cx="3180133" cy="86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7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화면명칭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북마크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기능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화면ID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 No.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1" name="Google Shape;201;p9"/>
          <p:cNvGraphicFramePr/>
          <p:nvPr/>
        </p:nvGraphicFramePr>
        <p:xfrm>
          <a:off x="8600560" y="2152858"/>
          <a:ext cx="3180133" cy="47489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8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187">
                <a:tc>
                  <a:txBody>
                    <a:bodyPr/>
                    <a:lstStyle/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AutoNum type="arabicPeriod"/>
                      </a:pPr>
                      <a:r>
                        <a:rPr lang="en-US" sz="1100" dirty="0" err="1"/>
                        <a:t>도서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정보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우측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상단에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북마크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기능</a:t>
                      </a:r>
                      <a:endParaRPr sz="1100" dirty="0"/>
                    </a:p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AutoNum type="arabicPeriod"/>
                      </a:pPr>
                      <a:r>
                        <a:rPr lang="en-US" sz="1100" dirty="0" err="1"/>
                        <a:t>북마크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추가</a:t>
                      </a:r>
                      <a:r>
                        <a:rPr lang="en-US" sz="1100" dirty="0"/>
                        <a:t> / </a:t>
                      </a:r>
                      <a:r>
                        <a:rPr lang="en-US" sz="1100" dirty="0" err="1"/>
                        <a:t>취소에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따라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토스트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메시지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출력</a:t>
                      </a:r>
                      <a:endParaRPr sz="1100" dirty="0"/>
                    </a:p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AutoNum type="arabicPeriod"/>
                      </a:pPr>
                      <a:r>
                        <a:rPr lang="en-US" sz="1100" dirty="0" err="1"/>
                        <a:t>북마크</a:t>
                      </a:r>
                      <a:r>
                        <a:rPr lang="en-US" sz="1100" dirty="0"/>
                        <a:t> 된 </a:t>
                      </a:r>
                      <a:r>
                        <a:rPr lang="en-US" sz="1100" dirty="0" err="1"/>
                        <a:t>도서의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경우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북마크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아이콘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색상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변경</a:t>
                      </a:r>
                      <a:endParaRPr sz="1100" dirty="0"/>
                    </a:p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AutoNum type="arabicPeriod"/>
                      </a:pPr>
                      <a:r>
                        <a:rPr lang="en-US" sz="1100" dirty="0" err="1"/>
                        <a:t>비로그인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상태에서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북마크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시도</a:t>
                      </a:r>
                      <a:r>
                        <a:rPr lang="en-US" sz="1100" dirty="0"/>
                        <a:t> 시 </a:t>
                      </a:r>
                      <a:r>
                        <a:rPr lang="en-US" sz="1100" dirty="0" err="1"/>
                        <a:t>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요구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토스트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메시지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출력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7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93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로그인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상태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확인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후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북마크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기능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활성화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2.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북마크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추가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취소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토글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방식으로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구현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2" name="Google Shape;202;p9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10</a:t>
            </a:fld>
            <a:endParaRPr/>
          </a:p>
        </p:txBody>
      </p:sp>
      <p:pic>
        <p:nvPicPr>
          <p:cNvPr id="203" name="Google Shape;20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33" y="1622768"/>
            <a:ext cx="3852200" cy="239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 txBox="1"/>
          <p:nvPr/>
        </p:nvSpPr>
        <p:spPr>
          <a:xfrm>
            <a:off x="489467" y="4253167"/>
            <a:ext cx="3552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067">
                <a:solidFill>
                  <a:schemeClr val="dk1"/>
                </a:solidFill>
              </a:rPr>
              <a:t>도서 상세정보 그리드 우측 상단에 북마크 추가.</a:t>
            </a:r>
            <a:endParaRPr sz="1067">
              <a:solidFill>
                <a:schemeClr val="dk1"/>
              </a:solidFill>
            </a:endParaRPr>
          </a:p>
        </p:txBody>
      </p:sp>
      <p:pic>
        <p:nvPicPr>
          <p:cNvPr id="205" name="Google Shape;20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233" y="1622767"/>
            <a:ext cx="1190067" cy="52626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/>
          <p:nvPr/>
        </p:nvSpPr>
        <p:spPr>
          <a:xfrm>
            <a:off x="4041466" y="2130467"/>
            <a:ext cx="2629299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>
                <a:solidFill>
                  <a:schemeClr val="dk1"/>
                </a:solidFill>
              </a:rPr>
              <a:t>북마크 된 도서의 경우 위와 같이 변경</a:t>
            </a:r>
            <a:endParaRPr sz="1067">
              <a:solidFill>
                <a:schemeClr val="dk1"/>
              </a:solidFill>
            </a:endParaRPr>
          </a:p>
        </p:txBody>
      </p:sp>
      <p:pic>
        <p:nvPicPr>
          <p:cNvPr id="207" name="Google Shape;20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3367" y="2588884"/>
            <a:ext cx="3125267" cy="144826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 txBox="1"/>
          <p:nvPr/>
        </p:nvSpPr>
        <p:spPr>
          <a:xfrm>
            <a:off x="4320000" y="4134767"/>
            <a:ext cx="3552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 dirty="0" err="1">
                <a:solidFill>
                  <a:schemeClr val="dk1"/>
                </a:solidFill>
              </a:rPr>
              <a:t>북마크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추가</a:t>
            </a:r>
            <a:r>
              <a:rPr lang="en-US" sz="1067" dirty="0">
                <a:solidFill>
                  <a:schemeClr val="dk1"/>
                </a:solidFill>
              </a:rPr>
              <a:t>/</a:t>
            </a:r>
            <a:r>
              <a:rPr lang="en-US" sz="1067" dirty="0" err="1">
                <a:solidFill>
                  <a:schemeClr val="dk1"/>
                </a:solidFill>
              </a:rPr>
              <a:t>취소에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따라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토스트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메시지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출력</a:t>
            </a:r>
            <a:endParaRPr sz="1067" dirty="0">
              <a:solidFill>
                <a:schemeClr val="dk1"/>
              </a:solidFill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800" y="4919067"/>
            <a:ext cx="3751333" cy="80313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 txBox="1"/>
          <p:nvPr/>
        </p:nvSpPr>
        <p:spPr>
          <a:xfrm>
            <a:off x="277467" y="5786700"/>
            <a:ext cx="3552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>
                <a:solidFill>
                  <a:schemeClr val="dk1"/>
                </a:solidFill>
              </a:rPr>
              <a:t>비로그인 상태에서 북마크 시도 시 토스트 메시지 출력</a:t>
            </a:r>
            <a:endParaRPr sz="1067">
              <a:solidFill>
                <a:schemeClr val="dk1"/>
              </a:solidFill>
            </a:endParaRPr>
          </a:p>
        </p:txBody>
      </p:sp>
      <p:pic>
        <p:nvPicPr>
          <p:cNvPr id="211" name="Google Shape;211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0530" y="4500925"/>
            <a:ext cx="1599473" cy="196656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 txBox="1"/>
          <p:nvPr/>
        </p:nvSpPr>
        <p:spPr>
          <a:xfrm>
            <a:off x="4974833" y="5241200"/>
            <a:ext cx="3552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 dirty="0" err="1">
                <a:solidFill>
                  <a:schemeClr val="dk1"/>
                </a:solidFill>
              </a:rPr>
              <a:t>마이페이지</a:t>
            </a:r>
            <a:r>
              <a:rPr lang="en-US" sz="1067" dirty="0">
                <a:solidFill>
                  <a:schemeClr val="dk1"/>
                </a:solidFill>
              </a:rPr>
              <a:t> 내 </a:t>
            </a:r>
            <a:r>
              <a:rPr lang="en-US" sz="1067" dirty="0" err="1">
                <a:solidFill>
                  <a:schemeClr val="dk1"/>
                </a:solidFill>
              </a:rPr>
              <a:t>북마크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도서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출력</a:t>
            </a:r>
            <a:endParaRPr sz="1067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ed64d507b_7_1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UI 스케치 작성</a:t>
            </a:r>
            <a:endParaRPr/>
          </a:p>
        </p:txBody>
      </p:sp>
      <p:graphicFrame>
        <p:nvGraphicFramePr>
          <p:cNvPr id="218" name="Google Shape;218;g3eed64d507b_7_1"/>
          <p:cNvGraphicFramePr/>
          <p:nvPr/>
        </p:nvGraphicFramePr>
        <p:xfrm>
          <a:off x="177802" y="1266456"/>
          <a:ext cx="8205367" cy="5201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00">
                <a:tc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 sz="2400" dirty="0"/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3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9867">
                <a:tc gridSpan="2"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9" name="Google Shape;219;g3eed64d507b_7_1"/>
          <p:cNvGraphicFramePr/>
          <p:nvPr/>
        </p:nvGraphicFramePr>
        <p:xfrm>
          <a:off x="8600559" y="1266456"/>
          <a:ext cx="3180133" cy="86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7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화면명칭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로그인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및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회원가입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화면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화면ID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 No.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0" name="Google Shape;220;g3eed64d507b_7_1"/>
          <p:cNvGraphicFramePr/>
          <p:nvPr/>
        </p:nvGraphicFramePr>
        <p:xfrm>
          <a:off x="8600560" y="2152858"/>
          <a:ext cx="3180133" cy="45709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8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3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724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1. </a:t>
                      </a:r>
                      <a:r>
                        <a:rPr lang="en-US" sz="1100" dirty="0" err="1"/>
                        <a:t>아이디</a:t>
                      </a:r>
                      <a:r>
                        <a:rPr lang="en-US" sz="1100" dirty="0"/>
                        <a:t> 및 </a:t>
                      </a:r>
                      <a:r>
                        <a:rPr lang="en-US" sz="1100" dirty="0" err="1"/>
                        <a:t>비밀번호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입력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기반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제공</a:t>
                      </a:r>
                      <a:endParaRPr sz="1100" dirty="0"/>
                    </a:p>
                    <a:p>
                      <a:pPr marL="92075" marR="0" lvl="0" indent="-412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2. </a:t>
                      </a:r>
                      <a:r>
                        <a:rPr lang="en-US" sz="1100" dirty="0" err="1"/>
                        <a:t>간결한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입력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필드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구성으로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빠른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가능</a:t>
                      </a:r>
                      <a:endParaRPr sz="1100" dirty="0"/>
                    </a:p>
                    <a:p>
                      <a:pPr marL="92075" marR="0" lvl="0" indent="-412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3. </a:t>
                      </a:r>
                      <a:r>
                        <a:rPr lang="en-US" sz="1100" dirty="0" err="1"/>
                        <a:t>회원가입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버튼을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통한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신규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회원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등록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화면</a:t>
                      </a:r>
                      <a:r>
                        <a:rPr lang="en-US" sz="1100" dirty="0"/>
                        <a:t> </a:t>
                      </a:r>
                      <a:endParaRPr sz="1100" dirty="0"/>
                    </a:p>
                    <a:p>
                      <a:pPr marL="92075" marR="0" lvl="0" indent="-412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    </a:t>
                      </a:r>
                      <a:r>
                        <a:rPr lang="en-US" sz="1100" dirty="0" err="1"/>
                        <a:t>이동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지원</a:t>
                      </a:r>
                      <a:endParaRPr sz="1100" dirty="0"/>
                    </a:p>
                    <a:p>
                      <a:pPr marL="92075" marR="0" lvl="0" indent="-412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4. </a:t>
                      </a:r>
                      <a:r>
                        <a:rPr lang="en-US" sz="1100" dirty="0" err="1"/>
                        <a:t>로그인</a:t>
                      </a:r>
                      <a:r>
                        <a:rPr lang="en-US" sz="1100" dirty="0"/>
                        <a:t> / </a:t>
                      </a:r>
                      <a:r>
                        <a:rPr lang="en-US" sz="1100" dirty="0" err="1"/>
                        <a:t>회원가입</a:t>
                      </a:r>
                      <a:r>
                        <a:rPr lang="en-US" sz="1100" dirty="0"/>
                        <a:t> / </a:t>
                      </a:r>
                      <a:r>
                        <a:rPr lang="en-US" sz="1100" dirty="0" err="1"/>
                        <a:t>로그아웃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결과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토스트</a:t>
                      </a:r>
                      <a:r>
                        <a:rPr lang="en-US" sz="1100" dirty="0"/>
                        <a:t> </a:t>
                      </a:r>
                      <a:endParaRPr sz="1100" dirty="0"/>
                    </a:p>
                    <a:p>
                      <a:pPr marL="92075" marR="0" lvl="0" indent="-412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     </a:t>
                      </a:r>
                      <a:r>
                        <a:rPr lang="en-US" sz="1100" dirty="0" err="1"/>
                        <a:t>메시지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제공</a:t>
                      </a:r>
                      <a:endParaRPr sz="1100" dirty="0"/>
                    </a:p>
                    <a:p>
                      <a:pPr marL="92075" marR="0" lvl="0" indent="-412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/>
                        <a:t>5. </a:t>
                      </a:r>
                      <a:r>
                        <a:rPr lang="en-US" sz="1100" dirty="0" err="1"/>
                        <a:t>세션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기반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유지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적용</a:t>
                      </a:r>
                      <a:endParaRPr sz="11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3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1. Spring Security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기반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로그인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인증처리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2.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사용자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비밀번호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해시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및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솔트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적용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후 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  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암호화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저장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3.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sessionStorage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활용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로그인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상태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유지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구현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1" name="Google Shape;221;g3eed64d507b_7_1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11</a:t>
            </a:fld>
            <a:endParaRPr/>
          </a:p>
        </p:txBody>
      </p:sp>
      <p:grpSp>
        <p:nvGrpSpPr>
          <p:cNvPr id="222" name="Google Shape;222;g3eed64d507b_7_1"/>
          <p:cNvGrpSpPr/>
          <p:nvPr/>
        </p:nvGrpSpPr>
        <p:grpSpPr>
          <a:xfrm>
            <a:off x="829430" y="2399719"/>
            <a:ext cx="7051631" cy="3587083"/>
            <a:chOff x="557575" y="1614650"/>
            <a:chExt cx="5523471" cy="2809726"/>
          </a:xfrm>
        </p:grpSpPr>
        <p:pic>
          <p:nvPicPr>
            <p:cNvPr id="223" name="Google Shape;223;g3eed64d507b_7_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7575" y="1614650"/>
              <a:ext cx="2266552" cy="2809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g3eed64d507b_7_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66750" y="1614650"/>
              <a:ext cx="2714296" cy="2809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g3eed64d507b_7_1"/>
          <p:cNvSpPr txBox="1"/>
          <p:nvPr/>
        </p:nvSpPr>
        <p:spPr>
          <a:xfrm>
            <a:off x="1337667" y="1842467"/>
            <a:ext cx="172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dk1"/>
                </a:solidFill>
              </a:rPr>
              <a:t>스케치</a:t>
            </a:r>
            <a:endParaRPr sz="2400" dirty="0"/>
          </a:p>
        </p:txBody>
      </p:sp>
      <p:sp>
        <p:nvSpPr>
          <p:cNvPr id="226" name="Google Shape;226;g3eed64d507b_7_1"/>
          <p:cNvSpPr txBox="1"/>
          <p:nvPr/>
        </p:nvSpPr>
        <p:spPr>
          <a:xfrm>
            <a:off x="5235200" y="1882967"/>
            <a:ext cx="172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b="1" dirty="0" err="1">
                <a:solidFill>
                  <a:schemeClr val="dk1"/>
                </a:solidFill>
              </a:rPr>
              <a:t>구현</a:t>
            </a:r>
            <a:endParaRPr sz="2400" dirty="0"/>
          </a:p>
        </p:txBody>
      </p:sp>
      <p:pic>
        <p:nvPicPr>
          <p:cNvPr id="227" name="Google Shape;227;g3eed64d507b_7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4001" y="2152867"/>
            <a:ext cx="1309177" cy="3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eed64d507b_7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4000" y="2524267"/>
            <a:ext cx="1309165" cy="299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eed64d507b_7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73995" y="2823728"/>
            <a:ext cx="1309167" cy="26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g3eed64d507b_9_10"/>
          <p:cNvGraphicFramePr/>
          <p:nvPr/>
        </p:nvGraphicFramePr>
        <p:xfrm>
          <a:off x="177802" y="1266456"/>
          <a:ext cx="8205367" cy="5201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00">
                <a:tc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 sz="2400" dirty="0"/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3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9867">
                <a:tc gridSpan="2"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5" name="Google Shape;235;g3eed64d507b_9_10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UI 스케치 작성</a:t>
            </a:r>
            <a:endParaRPr/>
          </a:p>
        </p:txBody>
      </p:sp>
      <p:graphicFrame>
        <p:nvGraphicFramePr>
          <p:cNvPr id="236" name="Google Shape;236;g3eed64d507b_9_10"/>
          <p:cNvGraphicFramePr/>
          <p:nvPr/>
        </p:nvGraphicFramePr>
        <p:xfrm>
          <a:off x="8600559" y="1266456"/>
          <a:ext cx="3180133" cy="86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7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화면명칭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별점 기능</a:t>
                      </a: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화면ID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 No.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7" name="Google Shape;237;g3eed64d507b_9_10"/>
          <p:cNvGraphicFramePr/>
          <p:nvPr/>
        </p:nvGraphicFramePr>
        <p:xfrm>
          <a:off x="8600560" y="2152857"/>
          <a:ext cx="3180133" cy="43738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8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8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7243">
                <a:tc>
                  <a:txBody>
                    <a:bodyPr/>
                    <a:lstStyle/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AutoNum type="arabicPeriod"/>
                      </a:pPr>
                      <a:r>
                        <a:rPr lang="en-US" sz="1100" dirty="0" err="1"/>
                        <a:t>도서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상세정보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그리드</a:t>
                      </a:r>
                      <a:r>
                        <a:rPr lang="en-US" sz="1100" dirty="0"/>
                        <a:t> 내 </a:t>
                      </a:r>
                      <a:r>
                        <a:rPr lang="en-US" sz="1100" dirty="0" err="1"/>
                        <a:t>별점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추가</a:t>
                      </a:r>
                      <a:endParaRPr sz="1100" dirty="0"/>
                    </a:p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AutoNum type="arabicPeriod"/>
                      </a:pPr>
                      <a:r>
                        <a:rPr lang="en-US" sz="1100" dirty="0" err="1"/>
                        <a:t>마우스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오버에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따라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실시간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별점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변경</a:t>
                      </a:r>
                      <a:r>
                        <a:rPr lang="en-US" sz="1100" dirty="0"/>
                        <a:t> 및 </a:t>
                      </a:r>
                      <a:r>
                        <a:rPr lang="en-US" sz="1100" dirty="0" err="1"/>
                        <a:t>클릭</a:t>
                      </a:r>
                      <a:r>
                        <a:rPr lang="en-US" sz="1100" dirty="0"/>
                        <a:t> 시 </a:t>
                      </a:r>
                      <a:r>
                        <a:rPr lang="en-US" sz="1100" dirty="0" err="1"/>
                        <a:t>별점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확정</a:t>
                      </a:r>
                      <a:endParaRPr sz="1100" dirty="0"/>
                    </a:p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AutoNum type="arabicPeriod"/>
                      </a:pPr>
                      <a:r>
                        <a:rPr lang="en-US" sz="1100" dirty="0" err="1"/>
                        <a:t>비로그인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상태에서는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토스트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메시지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출력</a:t>
                      </a:r>
                      <a:r>
                        <a:rPr lang="en-US" sz="1100" dirty="0"/>
                        <a:t> 및 </a:t>
                      </a:r>
                      <a:r>
                        <a:rPr lang="en-US" sz="1100" dirty="0" err="1"/>
                        <a:t>평가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불가</a:t>
                      </a:r>
                      <a:endParaRPr sz="1100" dirty="0"/>
                    </a:p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92075" marR="0" lvl="0" indent="-920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AutoNum type="arabicPeriod"/>
                      </a:pPr>
                      <a:r>
                        <a:rPr lang="en-US" sz="1100" dirty="0" err="1"/>
                        <a:t>평가한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별점에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따라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토스트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메시지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출력</a:t>
                      </a:r>
                      <a:endParaRPr sz="11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88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별점은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1~5점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정수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단위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범위로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구성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2.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마우스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호버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시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시각적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피드백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3.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로그인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상태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확인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후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별점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기능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활성화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8" name="Google Shape;238;g3eed64d507b_9_10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12</a:t>
            </a:fld>
            <a:endParaRPr/>
          </a:p>
        </p:txBody>
      </p:sp>
      <p:pic>
        <p:nvPicPr>
          <p:cNvPr id="239" name="Google Shape;239;g3eed64d507b_9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00" y="4549605"/>
            <a:ext cx="3180133" cy="89412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eed64d507b_9_10"/>
          <p:cNvSpPr txBox="1"/>
          <p:nvPr/>
        </p:nvSpPr>
        <p:spPr>
          <a:xfrm>
            <a:off x="370400" y="5483500"/>
            <a:ext cx="3066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333" dirty="0" err="1">
                <a:solidFill>
                  <a:schemeClr val="dk1"/>
                </a:solidFill>
              </a:rPr>
              <a:t>비로그인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상태에서는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불가</a:t>
            </a:r>
            <a:endParaRPr sz="1333" dirty="0">
              <a:solidFill>
                <a:schemeClr val="dk1"/>
              </a:solidFill>
            </a:endParaRPr>
          </a:p>
        </p:txBody>
      </p:sp>
      <p:pic>
        <p:nvPicPr>
          <p:cNvPr id="241" name="Google Shape;241;g3eed64d507b_9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4033" y="1629567"/>
            <a:ext cx="2743200" cy="54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eed64d507b_9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3661" y="2214733"/>
            <a:ext cx="2803944" cy="54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eed64d507b_9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3661" y="2855133"/>
            <a:ext cx="2903215" cy="618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eed64d507b_9_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3667" y="3465925"/>
            <a:ext cx="2803933" cy="12968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eed64d507b_9_10"/>
          <p:cNvSpPr txBox="1"/>
          <p:nvPr/>
        </p:nvSpPr>
        <p:spPr>
          <a:xfrm>
            <a:off x="5272267" y="4868133"/>
            <a:ext cx="3066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333">
                <a:solidFill>
                  <a:schemeClr val="dk1"/>
                </a:solidFill>
              </a:rPr>
              <a:t>평가 점수 별 토스트 메시지 출력</a:t>
            </a:r>
            <a:endParaRPr sz="1333">
              <a:solidFill>
                <a:schemeClr val="dk1"/>
              </a:solidFill>
            </a:endParaRPr>
          </a:p>
        </p:txBody>
      </p:sp>
      <p:pic>
        <p:nvPicPr>
          <p:cNvPr id="246" name="Google Shape;246;g3eed64d507b_9_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5451" y="1629567"/>
            <a:ext cx="1300467" cy="28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eed64d507b_9_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0401" y="1629567"/>
            <a:ext cx="3316935" cy="240853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ed64d507b_9_10"/>
          <p:cNvSpPr txBox="1"/>
          <p:nvPr/>
        </p:nvSpPr>
        <p:spPr>
          <a:xfrm>
            <a:off x="261267" y="4038100"/>
            <a:ext cx="3066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333">
                <a:solidFill>
                  <a:schemeClr val="dk1"/>
                </a:solidFill>
              </a:rPr>
              <a:t>상세정보 그리드 내 별점 기능 추가</a:t>
            </a:r>
            <a:endParaRPr sz="1333">
              <a:solidFill>
                <a:schemeClr val="dk1"/>
              </a:solidFill>
            </a:endParaRPr>
          </a:p>
        </p:txBody>
      </p:sp>
      <p:pic>
        <p:nvPicPr>
          <p:cNvPr id="249" name="Google Shape;249;g3eed64d507b_9_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31584" y="1960826"/>
            <a:ext cx="1208200" cy="26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eed64d507b_9_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16416" y="2270667"/>
            <a:ext cx="1208168" cy="28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eed64d507b_9_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896915" y="2601918"/>
            <a:ext cx="1277571" cy="28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eed64d507b_9_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84882" y="2933184"/>
            <a:ext cx="1301637" cy="28473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eed64d507b_9_10"/>
          <p:cNvSpPr txBox="1"/>
          <p:nvPr/>
        </p:nvSpPr>
        <p:spPr>
          <a:xfrm>
            <a:off x="2958033" y="3174567"/>
            <a:ext cx="3066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>
                <a:solidFill>
                  <a:schemeClr val="dk1"/>
                </a:solidFill>
              </a:rPr>
              <a:t>마우스 오버 시 별점 변경</a:t>
            </a:r>
            <a:endParaRPr sz="106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g3eed64d507b_9_29"/>
          <p:cNvGraphicFramePr/>
          <p:nvPr/>
        </p:nvGraphicFramePr>
        <p:xfrm>
          <a:off x="177802" y="1266456"/>
          <a:ext cx="8205367" cy="5201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00">
                <a:tc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 sz="2400" dirty="0"/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3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9867">
                <a:tc gridSpan="2"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9" name="Google Shape;259;g3eed64d507b_9_29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UI 스케치 작성</a:t>
            </a:r>
            <a:endParaRPr/>
          </a:p>
        </p:txBody>
      </p:sp>
      <p:graphicFrame>
        <p:nvGraphicFramePr>
          <p:cNvPr id="260" name="Google Shape;260;g3eed64d507b_9_29"/>
          <p:cNvGraphicFramePr/>
          <p:nvPr/>
        </p:nvGraphicFramePr>
        <p:xfrm>
          <a:off x="8600560" y="2147857"/>
          <a:ext cx="3180133" cy="43334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8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4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1. 책 </a:t>
                      </a:r>
                      <a:r>
                        <a:rPr lang="en-US" sz="1100" dirty="0" err="1"/>
                        <a:t>상세정보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그리드</a:t>
                      </a:r>
                      <a:r>
                        <a:rPr lang="en-US" sz="1100" dirty="0"/>
                        <a:t> 내 </a:t>
                      </a:r>
                      <a:r>
                        <a:rPr lang="en-US" sz="1100" dirty="0" err="1"/>
                        <a:t>댓글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추가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2. </a:t>
                      </a:r>
                      <a:r>
                        <a:rPr lang="en-US" sz="1100" dirty="0" err="1"/>
                        <a:t>비로그인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상태에서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작성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불가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3.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작성자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표시는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이름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+ ID 앞 2자리 + ****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형태로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익명성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보장</a:t>
                      </a:r>
                      <a:endParaRPr sz="11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57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본인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댓글만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수정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삭제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가능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2.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댓글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등록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수정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삭제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시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각각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토스트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메시지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출력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3.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작성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시간은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YYYY/MM/DD HH:MM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형식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표시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1" name="Google Shape;261;g3eed64d507b_9_29"/>
          <p:cNvGraphicFramePr/>
          <p:nvPr/>
        </p:nvGraphicFramePr>
        <p:xfrm>
          <a:off x="8600559" y="1266456"/>
          <a:ext cx="3180133" cy="86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7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화면명칭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댓글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기능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화면ID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 No.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2" name="Google Shape;262;g3eed64d507b_9_29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13</a:t>
            </a:fld>
            <a:endParaRPr/>
          </a:p>
        </p:txBody>
      </p:sp>
      <p:pic>
        <p:nvPicPr>
          <p:cNvPr id="263" name="Google Shape;263;g3eed64d507b_9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389" y="1663401"/>
            <a:ext cx="1902889" cy="187653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eed64d507b_9_29"/>
          <p:cNvSpPr txBox="1"/>
          <p:nvPr/>
        </p:nvSpPr>
        <p:spPr>
          <a:xfrm>
            <a:off x="-372167" y="3475051"/>
            <a:ext cx="3532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333">
                <a:solidFill>
                  <a:schemeClr val="dk1"/>
                </a:solidFill>
              </a:rPr>
              <a:t>도서 상세정보의 댓글 작성 기능</a:t>
            </a:r>
            <a:endParaRPr sz="1333">
              <a:solidFill>
                <a:schemeClr val="dk1"/>
              </a:solidFill>
            </a:endParaRPr>
          </a:p>
        </p:txBody>
      </p:sp>
      <p:pic>
        <p:nvPicPr>
          <p:cNvPr id="265" name="Google Shape;265;g3eed64d507b_9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371" y="1622201"/>
            <a:ext cx="2042859" cy="18765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eed64d507b_9_29"/>
          <p:cNvSpPr txBox="1"/>
          <p:nvPr/>
        </p:nvSpPr>
        <p:spPr>
          <a:xfrm>
            <a:off x="2514467" y="3475051"/>
            <a:ext cx="3532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333" dirty="0" err="1">
                <a:solidFill>
                  <a:schemeClr val="dk1"/>
                </a:solidFill>
              </a:rPr>
              <a:t>이름</a:t>
            </a:r>
            <a:r>
              <a:rPr lang="en-US" sz="1333" dirty="0">
                <a:solidFill>
                  <a:schemeClr val="dk1"/>
                </a:solidFill>
              </a:rPr>
              <a:t> + ID 2자리 + *4개로 </a:t>
            </a:r>
            <a:r>
              <a:rPr lang="en-US" sz="1333" dirty="0" err="1">
                <a:solidFill>
                  <a:schemeClr val="dk1"/>
                </a:solidFill>
              </a:rPr>
              <a:t>구성</a:t>
            </a:r>
            <a:endParaRPr sz="1333" dirty="0">
              <a:solidFill>
                <a:schemeClr val="dk1"/>
              </a:solidFill>
            </a:endParaRPr>
          </a:p>
        </p:txBody>
      </p:sp>
      <p:pic>
        <p:nvPicPr>
          <p:cNvPr id="267" name="Google Shape;267;g3eed64d507b_9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56" y="4235267"/>
            <a:ext cx="3961427" cy="143586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eed64d507b_9_29"/>
          <p:cNvSpPr txBox="1"/>
          <p:nvPr/>
        </p:nvSpPr>
        <p:spPr>
          <a:xfrm>
            <a:off x="603751" y="5671117"/>
            <a:ext cx="3532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333" dirty="0" err="1">
                <a:solidFill>
                  <a:schemeClr val="dk1"/>
                </a:solidFill>
              </a:rPr>
              <a:t>비로그인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상태에서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작성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불가</a:t>
            </a:r>
            <a:endParaRPr sz="1333" dirty="0">
              <a:solidFill>
                <a:schemeClr val="dk1"/>
              </a:solidFill>
            </a:endParaRPr>
          </a:p>
        </p:txBody>
      </p:sp>
      <p:pic>
        <p:nvPicPr>
          <p:cNvPr id="269" name="Google Shape;269;g3eed64d507b_9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0333" y="5439361"/>
            <a:ext cx="3605299" cy="649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eed64d507b_9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0334" y="3845517"/>
            <a:ext cx="3745167" cy="124706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eed64d507b_9_29"/>
          <p:cNvSpPr txBox="1"/>
          <p:nvPr/>
        </p:nvSpPr>
        <p:spPr>
          <a:xfrm>
            <a:off x="4596917" y="5042517"/>
            <a:ext cx="3532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>
                <a:solidFill>
                  <a:schemeClr val="dk1"/>
                </a:solidFill>
              </a:rPr>
              <a:t>댓글 우상단 버튼을 통해 수정/삭제 가능</a:t>
            </a:r>
            <a:endParaRPr sz="1067">
              <a:solidFill>
                <a:schemeClr val="dk1"/>
              </a:solidFill>
            </a:endParaRPr>
          </a:p>
        </p:txBody>
      </p:sp>
      <p:sp>
        <p:nvSpPr>
          <p:cNvPr id="272" name="Google Shape;272;g3eed64d507b_9_29"/>
          <p:cNvSpPr txBox="1"/>
          <p:nvPr/>
        </p:nvSpPr>
        <p:spPr>
          <a:xfrm>
            <a:off x="4602151" y="6011417"/>
            <a:ext cx="3532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067" dirty="0" err="1">
                <a:solidFill>
                  <a:schemeClr val="dk1"/>
                </a:solidFill>
              </a:rPr>
              <a:t>수정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버튼을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통해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간단하게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수정</a:t>
            </a:r>
            <a:r>
              <a:rPr lang="en-US" sz="1067" dirty="0">
                <a:solidFill>
                  <a:schemeClr val="dk1"/>
                </a:solidFill>
              </a:rPr>
              <a:t> </a:t>
            </a:r>
            <a:r>
              <a:rPr lang="en-US" sz="1067" dirty="0" err="1">
                <a:solidFill>
                  <a:schemeClr val="dk1"/>
                </a:solidFill>
              </a:rPr>
              <a:t>가능</a:t>
            </a:r>
            <a:endParaRPr sz="1067" dirty="0">
              <a:solidFill>
                <a:schemeClr val="dk1"/>
              </a:solidFill>
            </a:endParaRPr>
          </a:p>
        </p:txBody>
      </p:sp>
      <p:pic>
        <p:nvPicPr>
          <p:cNvPr id="273" name="Google Shape;273;g3eed64d507b_9_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5300" y="2801075"/>
            <a:ext cx="2700200" cy="60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eed64d507b_9_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78834" y="2244432"/>
            <a:ext cx="2470933" cy="489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eed64d507b_9_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79260" y="1592283"/>
            <a:ext cx="2470080" cy="5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/>
              <a:t>UI 스케치 작성</a:t>
            </a:r>
            <a:endParaRPr/>
          </a:p>
        </p:txBody>
      </p:sp>
      <p:graphicFrame>
        <p:nvGraphicFramePr>
          <p:cNvPr id="281" name="Google Shape;281;p10"/>
          <p:cNvGraphicFramePr/>
          <p:nvPr/>
        </p:nvGraphicFramePr>
        <p:xfrm>
          <a:off x="177802" y="1266456"/>
          <a:ext cx="8205367" cy="5201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00">
                <a:tc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Indicator</a:t>
                      </a:r>
                      <a:endParaRPr sz="2400" dirty="0"/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3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9867">
                <a:tc gridSpan="2">
                  <a:txBody>
                    <a:bodyPr/>
                    <a:lstStyle/>
                    <a:p>
                      <a:pPr marL="268288" marR="0" lvl="0" indent="-268288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0000" marR="120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2" name="Google Shape;282;p10"/>
          <p:cNvGraphicFramePr/>
          <p:nvPr/>
        </p:nvGraphicFramePr>
        <p:xfrm>
          <a:off x="8600559" y="1266456"/>
          <a:ext cx="3180133" cy="86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7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화면명칭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도서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태그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기능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화면ID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 No.</a:t>
                      </a:r>
                      <a:endParaRPr sz="2400" dirty="0"/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6000" marR="96000" marT="24000" marB="24000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3" name="Google Shape;283;p10"/>
          <p:cNvGraphicFramePr/>
          <p:nvPr/>
        </p:nvGraphicFramePr>
        <p:xfrm>
          <a:off x="8600560" y="2152858"/>
          <a:ext cx="3180133" cy="45730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8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8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화면설명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96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1. </a:t>
                      </a:r>
                      <a:r>
                        <a:rPr lang="en-US" sz="1100" dirty="0" err="1"/>
                        <a:t>도서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등록</a:t>
                      </a:r>
                      <a:r>
                        <a:rPr lang="en-US" sz="1100" dirty="0"/>
                        <a:t>/</a:t>
                      </a:r>
                      <a:r>
                        <a:rPr lang="en-US" sz="1100" dirty="0" err="1"/>
                        <a:t>수정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그리드에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도서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태그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추가</a:t>
                      </a:r>
                      <a:r>
                        <a:rPr lang="en-US" sz="1100" dirty="0"/>
                        <a:t> </a:t>
                      </a:r>
                      <a:endParaRPr sz="11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    </a:t>
                      </a:r>
                      <a:r>
                        <a:rPr lang="en-US" sz="1100" dirty="0" err="1"/>
                        <a:t>기능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개발</a:t>
                      </a:r>
                      <a:endParaRPr sz="11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2. </a:t>
                      </a:r>
                      <a:r>
                        <a:rPr lang="en-US" sz="1100" dirty="0" err="1"/>
                        <a:t>작성된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줄거리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기반으로</a:t>
                      </a:r>
                      <a:r>
                        <a:rPr lang="en-US" sz="1100" dirty="0"/>
                        <a:t> AI </a:t>
                      </a:r>
                      <a:r>
                        <a:rPr lang="en-US" sz="1100" dirty="0" err="1"/>
                        <a:t>태그를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생성하거나</a:t>
                      </a:r>
                      <a:r>
                        <a:rPr lang="en-US" sz="1100" dirty="0"/>
                        <a:t> </a:t>
                      </a:r>
                      <a:endParaRPr sz="11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    </a:t>
                      </a:r>
                      <a:r>
                        <a:rPr lang="en-US" sz="1100" dirty="0" err="1"/>
                        <a:t>원하는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태그를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수기로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입력해서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추가</a:t>
                      </a:r>
                      <a:r>
                        <a:rPr lang="en-US" sz="1100" dirty="0"/>
                        <a:t> / </a:t>
                      </a:r>
                      <a:r>
                        <a:rPr lang="en-US" sz="1100" dirty="0" err="1"/>
                        <a:t>제거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가능</a:t>
                      </a:r>
                      <a:endParaRPr sz="11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2400" dirty="0"/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113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OpenAI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gpt-4o-mini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모델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활용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-&gt;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줄거리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기반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태그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5~7개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자동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생성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2.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태그들은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쉼표로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구분된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문자열로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DB에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저장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3.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BookRepository에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findByTagsContaining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 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메서드로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태그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검색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구현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4.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프론트엔드에서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tags.split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(“,”)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으로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파싱하여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 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뱃지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형태로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표시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</a:txBody>
                  <a:tcPr marL="121933" marR="121933" marT="60967" marB="60967" anchor="ctr">
                    <a:lnL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4" name="Google Shape;284;p10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14</a:t>
            </a:fld>
            <a:endParaRPr/>
          </a:p>
        </p:txBody>
      </p:sp>
      <p:pic>
        <p:nvPicPr>
          <p:cNvPr id="285" name="Google Shape;2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33" y="3741550"/>
            <a:ext cx="2964435" cy="105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0485" y="3741533"/>
            <a:ext cx="2887100" cy="168903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0"/>
          <p:cNvSpPr txBox="1"/>
          <p:nvPr/>
        </p:nvSpPr>
        <p:spPr>
          <a:xfrm>
            <a:off x="177800" y="4744800"/>
            <a:ext cx="22956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333" dirty="0" err="1">
                <a:solidFill>
                  <a:schemeClr val="dk1"/>
                </a:solidFill>
              </a:rPr>
              <a:t>도서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태그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추가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기능</a:t>
            </a:r>
            <a:endParaRPr sz="1333" dirty="0">
              <a:solidFill>
                <a:schemeClr val="dk1"/>
              </a:solidFill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4280485" y="5430566"/>
            <a:ext cx="3354667" cy="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600" dirty="0" err="1">
                <a:solidFill>
                  <a:schemeClr val="dk1"/>
                </a:solidFill>
              </a:rPr>
              <a:t>작성된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줄거리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기반</a:t>
            </a:r>
            <a:r>
              <a:rPr lang="en-US" sz="1600" dirty="0">
                <a:solidFill>
                  <a:schemeClr val="dk1"/>
                </a:solidFill>
              </a:rPr>
              <a:t>  AI </a:t>
            </a:r>
            <a:r>
              <a:rPr lang="en-US" sz="1600" dirty="0" err="1">
                <a:solidFill>
                  <a:schemeClr val="dk1"/>
                </a:solidFill>
              </a:rPr>
              <a:t>태그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생성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4249141" y="5826366"/>
            <a:ext cx="3510758" cy="4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600" dirty="0" err="1">
                <a:solidFill>
                  <a:schemeClr val="dk1"/>
                </a:solidFill>
              </a:rPr>
              <a:t>원하는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태그를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직접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추가</a:t>
            </a:r>
            <a:r>
              <a:rPr lang="en-US" sz="1600" dirty="0">
                <a:solidFill>
                  <a:schemeClr val="dk1"/>
                </a:solidFill>
              </a:rPr>
              <a:t>/</a:t>
            </a:r>
            <a:r>
              <a:rPr lang="en-US" sz="1600" dirty="0" err="1">
                <a:solidFill>
                  <a:schemeClr val="dk1"/>
                </a:solidFill>
              </a:rPr>
              <a:t>제거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  <a:r>
              <a:rPr lang="en-US" sz="1600" dirty="0" err="1">
                <a:solidFill>
                  <a:schemeClr val="dk1"/>
                </a:solidFill>
              </a:rPr>
              <a:t>가능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290" name="Google Shape;29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834" y="5372400"/>
            <a:ext cx="2347949" cy="62473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 txBox="1"/>
          <p:nvPr/>
        </p:nvSpPr>
        <p:spPr>
          <a:xfrm>
            <a:off x="378834" y="5932867"/>
            <a:ext cx="2755373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333" dirty="0" err="1">
                <a:solidFill>
                  <a:schemeClr val="dk1"/>
                </a:solidFill>
              </a:rPr>
              <a:t>태그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생성</a:t>
            </a:r>
            <a:r>
              <a:rPr lang="en-US" sz="1333" dirty="0">
                <a:solidFill>
                  <a:schemeClr val="dk1"/>
                </a:solidFill>
              </a:rPr>
              <a:t> 시 </a:t>
            </a:r>
            <a:r>
              <a:rPr lang="en-US" sz="1333" dirty="0" err="1">
                <a:solidFill>
                  <a:schemeClr val="dk1"/>
                </a:solidFill>
              </a:rPr>
              <a:t>토스트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메시지</a:t>
            </a:r>
            <a:r>
              <a:rPr lang="en-US" sz="1333" dirty="0">
                <a:solidFill>
                  <a:schemeClr val="dk1"/>
                </a:solidFill>
              </a:rPr>
              <a:t> </a:t>
            </a:r>
            <a:r>
              <a:rPr lang="en-US" sz="1333" dirty="0" err="1">
                <a:solidFill>
                  <a:schemeClr val="dk1"/>
                </a:solidFill>
              </a:rPr>
              <a:t>출력</a:t>
            </a:r>
            <a:endParaRPr sz="1333" dirty="0">
              <a:solidFill>
                <a:schemeClr val="dk1"/>
              </a:solidFill>
            </a:endParaRPr>
          </a:p>
        </p:txBody>
      </p:sp>
      <p:pic>
        <p:nvPicPr>
          <p:cNvPr id="292" name="Google Shape;292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801" y="2026033"/>
            <a:ext cx="3978268" cy="134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 txBox="1"/>
          <p:nvPr/>
        </p:nvSpPr>
        <p:spPr>
          <a:xfrm>
            <a:off x="177800" y="1517633"/>
            <a:ext cx="1444800" cy="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600" b="1" dirty="0" err="1">
                <a:solidFill>
                  <a:schemeClr val="dk1"/>
                </a:solidFill>
              </a:rPr>
              <a:t>스케치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177800" y="3317267"/>
            <a:ext cx="1444800" cy="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1600" b="1">
                <a:solidFill>
                  <a:schemeClr val="dk1"/>
                </a:solidFill>
              </a:rPr>
              <a:t>구현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273000" y="3394967"/>
            <a:ext cx="3425600" cy="298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296" name="Google Shape;296;p10"/>
          <p:cNvSpPr/>
          <p:nvPr/>
        </p:nvSpPr>
        <p:spPr>
          <a:xfrm>
            <a:off x="3539133" y="4596200"/>
            <a:ext cx="616800" cy="36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AEAA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>
              <a:buClr>
                <a:srgbClr val="3D3D3D"/>
              </a:buClr>
            </a:pPr>
            <a:r>
              <a:rPr lang="en-US" b="1">
                <a:solidFill>
                  <a:srgbClr val="3D3D3D"/>
                </a:solidFill>
              </a:rPr>
              <a:t>팀 미션 역할 분담</a:t>
            </a:r>
            <a:endParaRPr b="1"/>
          </a:p>
        </p:txBody>
      </p:sp>
      <p:sp>
        <p:nvSpPr>
          <p:cNvPr id="302" name="Google Shape;302;p12"/>
          <p:cNvSpPr/>
          <p:nvPr/>
        </p:nvSpPr>
        <p:spPr>
          <a:xfrm>
            <a:off x="7838769" y="4056781"/>
            <a:ext cx="3072456" cy="2251188"/>
          </a:xfrm>
          <a:prstGeom prst="roundRect">
            <a:avLst>
              <a:gd name="adj" fmla="val 5724"/>
            </a:avLst>
          </a:prstGeom>
          <a:solidFill>
            <a:schemeClr val="lt1"/>
          </a:solidFill>
          <a:ln w="19050" cap="flat" cmpd="sng">
            <a:solidFill>
              <a:srgbClr val="30AEA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80000" tIns="180000" rIns="72000" bIns="60933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AI / Frontend </a:t>
            </a: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연동</a:t>
            </a:r>
            <a:endParaRPr sz="1600" b="1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코드</a:t>
            </a: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sz="1333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fetch URL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변경</a:t>
            </a:r>
            <a:b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/ 1차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연동</a:t>
            </a:r>
            <a:endParaRPr sz="1333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표지</a:t>
            </a: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흐름</a:t>
            </a:r>
            <a:endParaRPr sz="1333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E2E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시연</a:t>
            </a: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준비</a:t>
            </a:r>
            <a:endParaRPr sz="2400" dirty="0"/>
          </a:p>
        </p:txBody>
      </p:sp>
      <p:sp>
        <p:nvSpPr>
          <p:cNvPr id="303" name="Google Shape;303;p12"/>
          <p:cNvSpPr/>
          <p:nvPr/>
        </p:nvSpPr>
        <p:spPr>
          <a:xfrm>
            <a:off x="4432753" y="4056781"/>
            <a:ext cx="2975281" cy="2251188"/>
          </a:xfrm>
          <a:prstGeom prst="roundRect">
            <a:avLst>
              <a:gd name="adj" fmla="val 5724"/>
            </a:avLst>
          </a:prstGeom>
          <a:solidFill>
            <a:schemeClr val="lt1"/>
          </a:solidFill>
          <a:ln w="19050" cap="flat" cmpd="sng">
            <a:solidFill>
              <a:srgbClr val="30AEA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80000" tIns="180000" rIns="72000" bIns="60933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예외</a:t>
            </a: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처리</a:t>
            </a:r>
            <a:endParaRPr sz="1600" b="1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WebConfig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dirty="0"/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GlobalExceptionHandler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풀스택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디버깅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트러블슈팅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정리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38469" y="4056781"/>
            <a:ext cx="3193264" cy="2251188"/>
          </a:xfrm>
          <a:prstGeom prst="roundRect">
            <a:avLst>
              <a:gd name="adj" fmla="val 5724"/>
            </a:avLst>
          </a:prstGeom>
          <a:solidFill>
            <a:schemeClr val="lt1"/>
          </a:solidFill>
          <a:ln w="19050" cap="flat" cmpd="sng">
            <a:solidFill>
              <a:srgbClr val="30AEA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80000" tIns="180000" rIns="72000" bIns="60933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sz="2400" dirty="0"/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950"/>
              <a:buFont typeface="Noto Sans Symbols"/>
              <a:buChar char="✔"/>
            </a:pPr>
            <a:r>
              <a:rPr lang="en-US" sz="1267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BookController</a:t>
            </a:r>
            <a:endParaRPr sz="1267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950"/>
              <a:buFont typeface="Noto Sans Symbols"/>
              <a:buChar char="✔"/>
            </a:pPr>
            <a:r>
              <a:rPr lang="en-US" sz="1267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5종 CRUD </a:t>
            </a:r>
            <a:r>
              <a:rPr lang="en-US" sz="1267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엔드포인트</a:t>
            </a:r>
            <a:endParaRPr sz="1267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900"/>
              <a:buFont typeface="Noto Sans Symbols"/>
              <a:buChar char="✔"/>
            </a:pPr>
            <a:r>
              <a:rPr lang="en-US" sz="12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@Valid + @NotBlank</a:t>
            </a:r>
            <a:endParaRPr sz="2400" dirty="0"/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950"/>
              <a:buFont typeface="Noto Sans Symbols"/>
              <a:buChar char="✔"/>
            </a:pPr>
            <a:r>
              <a:rPr lang="en-US" sz="1267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Postman </a:t>
            </a:r>
            <a:r>
              <a:rPr lang="en-US" sz="1267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sz="1267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87311">
              <a:lnSpc>
                <a:spcPct val="150000"/>
              </a:lnSpc>
              <a:buClr>
                <a:schemeClr val="dk1"/>
              </a:buClr>
              <a:buSzPts val="1050"/>
            </a:pP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838768" y="1364639"/>
            <a:ext cx="3072459" cy="2251188"/>
          </a:xfrm>
          <a:prstGeom prst="roundRect">
            <a:avLst>
              <a:gd name="adj" fmla="val 5724"/>
            </a:avLst>
          </a:prstGeom>
          <a:solidFill>
            <a:schemeClr val="lt1"/>
          </a:solidFill>
          <a:ln w="19050" cap="flat" cmpd="sng">
            <a:solidFill>
              <a:srgbClr val="30AEA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80000" tIns="180000" rIns="72000" bIns="60933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sz="1600" b="1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BookService</a:t>
            </a: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클래스</a:t>
            </a:r>
            <a:endParaRPr sz="1333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비즈니스</a:t>
            </a: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로직</a:t>
            </a:r>
            <a:endParaRPr sz="1333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BookNotFoundException</a:t>
            </a:r>
            <a:endParaRPr sz="1333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00"/>
              <a:buFont typeface="Noto Sans Symbols"/>
              <a:buChar char="✔"/>
            </a:pPr>
            <a:r>
              <a:rPr lang="en-US" sz="1333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@Transactional</a:t>
            </a:r>
            <a:endParaRPr sz="1333" dirty="0">
              <a:solidFill>
                <a:srgbClr val="1F4F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432753" y="1364639"/>
            <a:ext cx="2975281" cy="2251188"/>
          </a:xfrm>
          <a:prstGeom prst="roundRect">
            <a:avLst>
              <a:gd name="adj" fmla="val 5724"/>
            </a:avLst>
          </a:prstGeom>
          <a:solidFill>
            <a:schemeClr val="lt1"/>
          </a:solidFill>
          <a:ln w="19050" cap="flat" cmpd="sng">
            <a:solidFill>
              <a:srgbClr val="30AEA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80000" tIns="180000" rIns="72000" bIns="60933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sz="1600" b="1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Book Entity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작성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BookRepository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H2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콘솔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확인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Lombok 4종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적용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938468" y="1364639"/>
            <a:ext cx="3193267" cy="2251188"/>
          </a:xfrm>
          <a:prstGeom prst="roundRect">
            <a:avLst>
              <a:gd name="adj" fmla="val 5724"/>
            </a:avLst>
          </a:prstGeom>
          <a:solidFill>
            <a:schemeClr val="lt1"/>
          </a:solidFill>
          <a:ln w="19050" cap="flat" cmpd="sng">
            <a:solidFill>
              <a:srgbClr val="30AEA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80000" tIns="180000" rIns="72000" bIns="60933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PM</a:t>
            </a:r>
            <a:endParaRPr sz="2400" dirty="0"/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ERD / API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정의서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README.md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작성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발표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자료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준비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6693" indent="-176209">
              <a:lnSpc>
                <a:spcPct val="150000"/>
              </a:lnSpc>
              <a:buClr>
                <a:srgbClr val="204F55"/>
              </a:buClr>
              <a:buSzPts val="1050"/>
              <a:buFont typeface="Noto Sans Symbols"/>
              <a:buChar char="✔"/>
            </a:pP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이슈</a:t>
            </a:r>
            <a:r>
              <a:rPr lang="en-US" sz="1400" dirty="0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204F55"/>
                </a:solidFill>
                <a:latin typeface="Arial"/>
                <a:ea typeface="Arial"/>
                <a:cs typeface="Arial"/>
                <a:sym typeface="Arial"/>
              </a:rPr>
              <a:t>추적</a:t>
            </a:r>
            <a:endParaRPr sz="1400" dirty="0">
              <a:solidFill>
                <a:srgbClr val="204F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15</a:t>
            </a:fld>
            <a:endParaRPr/>
          </a:p>
        </p:txBody>
      </p:sp>
      <p:pic>
        <p:nvPicPr>
          <p:cNvPr id="309" name="Google Shape;30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401" y="1910316"/>
            <a:ext cx="1032932" cy="119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434" y="1910293"/>
            <a:ext cx="1032933" cy="11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6427" y="4663761"/>
            <a:ext cx="1032933" cy="119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2400" y="4663759"/>
            <a:ext cx="1032933" cy="116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16034" y="1910294"/>
            <a:ext cx="1032933" cy="117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6027" y="4663760"/>
            <a:ext cx="1032933" cy="117944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2"/>
          <p:cNvSpPr txBox="1"/>
          <p:nvPr/>
        </p:nvSpPr>
        <p:spPr>
          <a:xfrm>
            <a:off x="1093599" y="1438433"/>
            <a:ext cx="1355300" cy="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333" b="1" dirty="0">
                <a:solidFill>
                  <a:srgbClr val="FF9900"/>
                </a:solidFill>
              </a:rPr>
              <a:t>오승헌, </a:t>
            </a:r>
            <a:r>
              <a:rPr lang="en-US" sz="1333" b="1" dirty="0" err="1">
                <a:solidFill>
                  <a:srgbClr val="FF9900"/>
                </a:solidFill>
              </a:rPr>
              <a:t>안주현</a:t>
            </a:r>
            <a:endParaRPr sz="1333" b="1" dirty="0">
              <a:solidFill>
                <a:srgbClr val="FF9900"/>
              </a:solidFill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4526333" y="1438433"/>
            <a:ext cx="1283600" cy="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b="1" dirty="0" err="1">
                <a:solidFill>
                  <a:srgbClr val="FF9900"/>
                </a:solidFill>
              </a:rPr>
              <a:t>조현우</a:t>
            </a:r>
            <a:endParaRPr sz="1733" b="1" dirty="0">
              <a:solidFill>
                <a:srgbClr val="FF9900"/>
              </a:solidFill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8016033" y="1438433"/>
            <a:ext cx="1283600" cy="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b="1">
                <a:solidFill>
                  <a:srgbClr val="FF9900"/>
                </a:solidFill>
              </a:rPr>
              <a:t>정민호</a:t>
            </a:r>
            <a:endParaRPr sz="1733" b="1">
              <a:solidFill>
                <a:srgbClr val="FF9900"/>
              </a:solidFill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1165300" y="4191767"/>
            <a:ext cx="1283600" cy="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b="1" dirty="0" err="1">
                <a:solidFill>
                  <a:srgbClr val="FF9900"/>
                </a:solidFill>
              </a:rPr>
              <a:t>정영환</a:t>
            </a:r>
            <a:endParaRPr sz="1733" b="1" dirty="0">
              <a:solidFill>
                <a:srgbClr val="FF9900"/>
              </a:solidFill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4526333" y="4191767"/>
            <a:ext cx="1283600" cy="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b="1" dirty="0" err="1">
                <a:solidFill>
                  <a:srgbClr val="FF9900"/>
                </a:solidFill>
              </a:rPr>
              <a:t>김재성</a:t>
            </a:r>
            <a:endParaRPr sz="1733" b="1" dirty="0">
              <a:solidFill>
                <a:srgbClr val="FF9900"/>
              </a:solidFill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8016033" y="4191767"/>
            <a:ext cx="1283600" cy="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733" b="1" dirty="0" err="1">
                <a:solidFill>
                  <a:srgbClr val="FF9900"/>
                </a:solidFill>
              </a:rPr>
              <a:t>김석주</a:t>
            </a:r>
            <a:endParaRPr sz="1733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 txBox="1">
            <a:spLocks noGrp="1"/>
          </p:cNvSpPr>
          <p:nvPr>
            <p:ph type="body" idx="1"/>
          </p:nvPr>
        </p:nvSpPr>
        <p:spPr>
          <a:xfrm>
            <a:off x="427037" y="1401764"/>
            <a:ext cx="11307600" cy="49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400"/>
            </a:pPr>
            <a:r>
              <a:rPr lang="en-US" sz="1867" b="1" dirty="0" err="1"/>
              <a:t>Github</a:t>
            </a:r>
            <a:r>
              <a:rPr lang="en-US" sz="1867" b="1" dirty="0"/>
              <a:t> </a:t>
            </a:r>
            <a:r>
              <a:rPr lang="en-US" sz="1867" b="1" dirty="0" err="1"/>
              <a:t>주소</a:t>
            </a:r>
            <a:r>
              <a:rPr lang="en-US" sz="1867" b="1" dirty="0"/>
              <a:t> </a:t>
            </a:r>
            <a:r>
              <a:rPr lang="en-US" sz="1867" b="1" dirty="0" err="1"/>
              <a:t>입력</a:t>
            </a:r>
            <a:r>
              <a:rPr lang="en-US" sz="1867" b="1" dirty="0"/>
              <a:t>: </a:t>
            </a:r>
            <a:r>
              <a:rPr lang="en-US" sz="1467" u="sng" dirty="0" err="1">
                <a:solidFill>
                  <a:schemeClr val="hlink"/>
                </a:solidFill>
                <a:hlinkClick r:id="rId3"/>
              </a:rPr>
              <a:t>cho</a:t>
            </a:r>
            <a:r>
              <a:rPr lang="en-US" sz="1467" u="sng" dirty="0">
                <a:solidFill>
                  <a:schemeClr val="hlink"/>
                </a:solidFill>
                <a:hlinkClick r:id="rId3"/>
              </a:rPr>
              <a:t>-</a:t>
            </a:r>
            <a:r>
              <a:rPr lang="en-US" sz="1467" u="sng" dirty="0" err="1">
                <a:solidFill>
                  <a:schemeClr val="hlink"/>
                </a:solidFill>
                <a:hlinkClick r:id="rId3"/>
              </a:rPr>
              <a:t>hyeon</a:t>
            </a:r>
            <a:r>
              <a:rPr lang="en-US" sz="1467" u="sng" dirty="0">
                <a:solidFill>
                  <a:schemeClr val="hlink"/>
                </a:solidFill>
                <a:hlinkClick r:id="rId3"/>
              </a:rPr>
              <a:t>-woo/mini-project4-library: 미니프로젝트4차 </a:t>
            </a:r>
            <a:r>
              <a:rPr lang="en-US" sz="1467" u="sng" dirty="0" err="1">
                <a:solidFill>
                  <a:schemeClr val="hlink"/>
                </a:solidFill>
                <a:hlinkClick r:id="rId3"/>
              </a:rPr>
              <a:t>도서검색</a:t>
            </a:r>
            <a:r>
              <a:rPr lang="en-US" sz="1467" u="sng" dirty="0">
                <a:solidFill>
                  <a:schemeClr val="hlink"/>
                </a:solidFill>
                <a:hlinkClick r:id="rId3"/>
              </a:rPr>
              <a:t> </a:t>
            </a:r>
            <a:endParaRPr sz="1867" b="1" dirty="0"/>
          </a:p>
        </p:txBody>
      </p:sp>
      <p:sp>
        <p:nvSpPr>
          <p:cNvPr id="326" name="Google Shape;326;p11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>
              <a:buClr>
                <a:srgbClr val="3D3D3D"/>
              </a:buClr>
            </a:pPr>
            <a:r>
              <a:rPr lang="en-US" b="1" dirty="0" err="1">
                <a:solidFill>
                  <a:srgbClr val="3D3D3D"/>
                </a:solidFill>
              </a:rPr>
              <a:t>소스코드</a:t>
            </a:r>
            <a:r>
              <a:rPr lang="en-US" b="1" dirty="0">
                <a:solidFill>
                  <a:srgbClr val="3D3D3D"/>
                </a:solidFill>
              </a:rPr>
              <a:t> </a:t>
            </a:r>
            <a:r>
              <a:rPr lang="en-US" b="1" dirty="0" err="1">
                <a:solidFill>
                  <a:srgbClr val="3D3D3D"/>
                </a:solidFill>
              </a:rPr>
              <a:t>저장소</a:t>
            </a:r>
            <a:r>
              <a:rPr lang="en-US" b="1" dirty="0">
                <a:solidFill>
                  <a:srgbClr val="3D3D3D"/>
                </a:solidFill>
              </a:rPr>
              <a:t> </a:t>
            </a:r>
            <a:r>
              <a:rPr lang="en-US" b="1" dirty="0" err="1">
                <a:solidFill>
                  <a:srgbClr val="3D3D3D"/>
                </a:solidFill>
              </a:rPr>
              <a:t>주소</a:t>
            </a:r>
            <a:r>
              <a:rPr lang="en-US" b="1" dirty="0">
                <a:solidFill>
                  <a:srgbClr val="3D3D3D"/>
                </a:solidFill>
              </a:rPr>
              <a:t>(</a:t>
            </a:r>
            <a:r>
              <a:rPr lang="en-US" b="1" dirty="0" err="1">
                <a:solidFill>
                  <a:srgbClr val="3D3D3D"/>
                </a:solidFill>
              </a:rPr>
              <a:t>Github</a:t>
            </a:r>
            <a:r>
              <a:rPr lang="en-US" b="1" dirty="0">
                <a:solidFill>
                  <a:srgbClr val="3D3D3D"/>
                </a:solidFill>
              </a:rPr>
              <a:t> </a:t>
            </a:r>
            <a:r>
              <a:rPr lang="en-US" b="1" dirty="0" err="1">
                <a:solidFill>
                  <a:srgbClr val="3D3D3D"/>
                </a:solidFill>
              </a:rPr>
              <a:t>주소</a:t>
            </a:r>
            <a:r>
              <a:rPr lang="en-US" b="1" dirty="0">
                <a:solidFill>
                  <a:srgbClr val="3D3D3D"/>
                </a:solidFill>
              </a:rPr>
              <a:t>)</a:t>
            </a:r>
            <a:endParaRPr b="1" dirty="0"/>
          </a:p>
        </p:txBody>
      </p:sp>
      <p:sp>
        <p:nvSpPr>
          <p:cNvPr id="327" name="Google Shape;327;p11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18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>
              <a:buClr>
                <a:srgbClr val="3D3D3D"/>
              </a:buClr>
            </a:pPr>
            <a:r>
              <a:rPr lang="en-US" b="1">
                <a:solidFill>
                  <a:srgbClr val="3D3D3D"/>
                </a:solidFill>
              </a:rPr>
              <a:t> Walking Library 산출물</a:t>
            </a:r>
            <a:endParaRPr b="1"/>
          </a:p>
        </p:txBody>
      </p:sp>
      <p:sp>
        <p:nvSpPr>
          <p:cNvPr id="333" name="Google Shape;333;p13"/>
          <p:cNvSpPr txBox="1">
            <a:spLocks noGrp="1"/>
          </p:cNvSpPr>
          <p:nvPr>
            <p:ph type="sldNum" idx="12"/>
          </p:nvPr>
        </p:nvSpPr>
        <p:spPr>
          <a:xfrm>
            <a:off x="9448800" y="65670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17</a:t>
            </a:fld>
            <a:endParaRPr/>
          </a:p>
        </p:txBody>
      </p:sp>
      <p:pic>
        <p:nvPicPr>
          <p:cNvPr id="334" name="Google Shape;3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801" y="2883751"/>
            <a:ext cx="3146513" cy="3641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34" y="1271867"/>
            <a:ext cx="3185764" cy="3641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2265" y="3064788"/>
            <a:ext cx="2811268" cy="3279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8301" y="1271872"/>
            <a:ext cx="2646601" cy="389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ed64d507b_6_11"/>
          <p:cNvSpPr txBox="1">
            <a:spLocks noGrp="1"/>
          </p:cNvSpPr>
          <p:nvPr>
            <p:ph type="sldNum" idx="12"/>
          </p:nvPr>
        </p:nvSpPr>
        <p:spPr>
          <a:xfrm>
            <a:off x="9448800" y="6567017"/>
            <a:ext cx="2743200" cy="3652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US"/>
              <a:pPr>
                <a:buClr>
                  <a:srgbClr val="000000"/>
                </a:buClr>
              </a:pPr>
              <a:t>18</a:t>
            </a:fld>
            <a:endParaRPr/>
          </a:p>
        </p:txBody>
      </p:sp>
      <p:sp>
        <p:nvSpPr>
          <p:cNvPr id="344" name="Google Shape;344;g3eed64d507b_6_11"/>
          <p:cNvSpPr txBox="1">
            <a:spLocks noGrp="1"/>
          </p:cNvSpPr>
          <p:nvPr>
            <p:ph type="body" idx="1"/>
          </p:nvPr>
        </p:nvSpPr>
        <p:spPr>
          <a:xfrm>
            <a:off x="427037" y="1401764"/>
            <a:ext cx="11307600" cy="49180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marL="0" indent="0"/>
            <a:r>
              <a:rPr lang="en-US" sz="2133" dirty="0" err="1"/>
              <a:t>문제:화면</a:t>
            </a:r>
            <a:r>
              <a:rPr lang="en-US" sz="2133" dirty="0"/>
              <a:t> </a:t>
            </a:r>
            <a:r>
              <a:rPr lang="en-US" sz="2133" dirty="0" err="1"/>
              <a:t>중심</a:t>
            </a:r>
            <a:r>
              <a:rPr lang="en-US" sz="2133" dirty="0"/>
              <a:t> </a:t>
            </a:r>
            <a:r>
              <a:rPr lang="en-US" sz="2133" dirty="0" err="1"/>
              <a:t>선개발로</a:t>
            </a:r>
            <a:r>
              <a:rPr lang="en-US" sz="2133" dirty="0"/>
              <a:t> API·DB </a:t>
            </a:r>
            <a:r>
              <a:rPr lang="en-US" sz="2133" dirty="0" err="1"/>
              <a:t>연동</a:t>
            </a:r>
            <a:r>
              <a:rPr lang="en-US" sz="2133" dirty="0"/>
              <a:t> 시 </a:t>
            </a:r>
            <a:r>
              <a:rPr lang="en-US" sz="2133" dirty="0" err="1"/>
              <a:t>데이터</a:t>
            </a:r>
            <a:r>
              <a:rPr lang="en-US" sz="2133" dirty="0"/>
              <a:t> </a:t>
            </a:r>
            <a:r>
              <a:rPr lang="en-US" sz="2133" dirty="0" err="1"/>
              <a:t>구조</a:t>
            </a:r>
            <a:r>
              <a:rPr lang="en-US" sz="2133" dirty="0"/>
              <a:t> </a:t>
            </a:r>
            <a:r>
              <a:rPr lang="en-US" sz="2133" dirty="0" err="1"/>
              <a:t>불일치</a:t>
            </a:r>
            <a:r>
              <a:rPr lang="en-US" sz="2133" dirty="0"/>
              <a:t> </a:t>
            </a:r>
            <a:r>
              <a:rPr lang="en-US" sz="2133" dirty="0" err="1"/>
              <a:t>발생</a:t>
            </a:r>
            <a:r>
              <a:rPr lang="en-US" sz="2133" dirty="0"/>
              <a:t> </a:t>
            </a:r>
            <a:endParaRPr sz="2133" dirty="0"/>
          </a:p>
          <a:p>
            <a:pPr marL="0" indent="0"/>
            <a:r>
              <a:rPr lang="en-US" sz="2133" dirty="0" err="1"/>
              <a:t>해결:API</a:t>
            </a:r>
            <a:r>
              <a:rPr lang="en-US" sz="2133" dirty="0"/>
              <a:t> </a:t>
            </a:r>
            <a:r>
              <a:rPr lang="en-US" sz="2133" dirty="0" err="1"/>
              <a:t>기준으로</a:t>
            </a:r>
            <a:r>
              <a:rPr lang="en-US" sz="2133" dirty="0"/>
              <a:t> </a:t>
            </a:r>
            <a:r>
              <a:rPr lang="en-US" sz="2133" dirty="0" err="1"/>
              <a:t>데이터</a:t>
            </a:r>
            <a:r>
              <a:rPr lang="en-US" sz="2133" dirty="0"/>
              <a:t> </a:t>
            </a:r>
            <a:r>
              <a:rPr lang="en-US" sz="2133" dirty="0" err="1"/>
              <a:t>흐름을</a:t>
            </a:r>
            <a:r>
              <a:rPr lang="en-US" sz="2133" dirty="0"/>
              <a:t> </a:t>
            </a:r>
            <a:r>
              <a:rPr lang="en-US" sz="2133" dirty="0" err="1"/>
              <a:t>재정리하고</a:t>
            </a:r>
            <a:r>
              <a:rPr lang="en-US" sz="2133" dirty="0"/>
              <a:t> </a:t>
            </a:r>
            <a:r>
              <a:rPr lang="en-US" sz="2133" dirty="0" err="1"/>
              <a:t>요청·응답</a:t>
            </a:r>
            <a:r>
              <a:rPr lang="en-US" sz="2133" dirty="0"/>
              <a:t> </a:t>
            </a:r>
            <a:r>
              <a:rPr lang="en-US" sz="2133" dirty="0" err="1"/>
              <a:t>형식</a:t>
            </a:r>
            <a:r>
              <a:rPr lang="en-US" sz="2133" dirty="0"/>
              <a:t> </a:t>
            </a:r>
            <a:r>
              <a:rPr lang="en-US" sz="2133" dirty="0" err="1"/>
              <a:t>통일</a:t>
            </a:r>
            <a:r>
              <a:rPr lang="en-US" sz="2133" dirty="0"/>
              <a:t> </a:t>
            </a:r>
            <a:endParaRPr sz="2133" dirty="0"/>
          </a:p>
          <a:p>
            <a:pPr marL="0" indent="0"/>
            <a:endParaRPr sz="2133" dirty="0"/>
          </a:p>
          <a:p>
            <a:pPr marL="0" indent="0"/>
            <a:r>
              <a:rPr lang="en-US" sz="2133" dirty="0" err="1"/>
              <a:t>문제:DB</a:t>
            </a:r>
            <a:r>
              <a:rPr lang="en-US" sz="2133" dirty="0"/>
              <a:t> </a:t>
            </a:r>
            <a:r>
              <a:rPr lang="en-US" sz="2133" dirty="0" err="1"/>
              <a:t>도입에</a:t>
            </a:r>
            <a:r>
              <a:rPr lang="en-US" sz="2133" dirty="0"/>
              <a:t> </a:t>
            </a:r>
            <a:r>
              <a:rPr lang="en-US" sz="2133" dirty="0" err="1"/>
              <a:t>따른</a:t>
            </a:r>
            <a:r>
              <a:rPr lang="en-US" sz="2133" dirty="0"/>
              <a:t> </a:t>
            </a:r>
            <a:r>
              <a:rPr lang="en-US" sz="2133" dirty="0" err="1"/>
              <a:t>사용자</a:t>
            </a:r>
            <a:r>
              <a:rPr lang="en-US" sz="2133" dirty="0"/>
              <a:t> PW </a:t>
            </a:r>
            <a:r>
              <a:rPr lang="en-US" sz="2133" dirty="0" err="1"/>
              <a:t>보안</a:t>
            </a:r>
            <a:r>
              <a:rPr lang="en-US" sz="2133" dirty="0"/>
              <a:t> </a:t>
            </a:r>
            <a:r>
              <a:rPr lang="en-US" sz="2133" dirty="0" err="1"/>
              <a:t>우려</a:t>
            </a:r>
            <a:endParaRPr sz="2133" dirty="0"/>
          </a:p>
          <a:p>
            <a:pPr marL="0" indent="0"/>
            <a:r>
              <a:rPr lang="en-US" sz="2133" dirty="0" err="1"/>
              <a:t>해결:비밀번호를</a:t>
            </a:r>
            <a:r>
              <a:rPr lang="en-US" sz="2133" dirty="0"/>
              <a:t> </a:t>
            </a:r>
            <a:r>
              <a:rPr lang="en-US" sz="2133" dirty="0" err="1"/>
              <a:t>BCrypt</a:t>
            </a:r>
            <a:r>
              <a:rPr lang="en-US" sz="2133" dirty="0"/>
              <a:t>(</a:t>
            </a:r>
            <a:r>
              <a:rPr lang="en-US" sz="2133" dirty="0" err="1"/>
              <a:t>hash+salt</a:t>
            </a:r>
            <a:r>
              <a:rPr lang="en-US" sz="2133" dirty="0"/>
              <a:t>)  </a:t>
            </a:r>
            <a:r>
              <a:rPr lang="en-US" sz="2133" dirty="0" err="1"/>
              <a:t>암호화</a:t>
            </a:r>
            <a:r>
              <a:rPr lang="en-US" sz="2133" dirty="0"/>
              <a:t> </a:t>
            </a:r>
            <a:r>
              <a:rPr lang="en-US" sz="2133" dirty="0" err="1"/>
              <a:t>처리</a:t>
            </a:r>
            <a:r>
              <a:rPr lang="en-US" sz="2133" dirty="0"/>
              <a:t> 및 </a:t>
            </a:r>
            <a:r>
              <a:rPr lang="en-US" sz="2133" dirty="0" err="1"/>
              <a:t>저장하는</a:t>
            </a:r>
            <a:r>
              <a:rPr lang="en-US" sz="2133" dirty="0"/>
              <a:t> </a:t>
            </a:r>
            <a:r>
              <a:rPr lang="en-US" sz="2133" dirty="0" err="1"/>
              <a:t>방식으로</a:t>
            </a:r>
            <a:r>
              <a:rPr lang="en-US" sz="2133" dirty="0"/>
              <a:t> </a:t>
            </a:r>
            <a:r>
              <a:rPr lang="en-US" sz="2133" dirty="0" err="1"/>
              <a:t>개선</a:t>
            </a:r>
            <a:endParaRPr sz="2133" dirty="0"/>
          </a:p>
          <a:p>
            <a:pPr marL="0" indent="0"/>
            <a:endParaRPr sz="2133" dirty="0"/>
          </a:p>
          <a:p>
            <a:pPr marL="0" indent="0"/>
            <a:r>
              <a:rPr lang="en-US" sz="2133" dirty="0" err="1"/>
              <a:t>문제:테이블</a:t>
            </a:r>
            <a:r>
              <a:rPr lang="en-US" sz="2133" dirty="0"/>
              <a:t> </a:t>
            </a:r>
            <a:r>
              <a:rPr lang="en-US" sz="2133" dirty="0" err="1"/>
              <a:t>정의</a:t>
            </a:r>
            <a:r>
              <a:rPr lang="en-US" sz="2133" dirty="0"/>
              <a:t>, ERD </a:t>
            </a:r>
            <a:r>
              <a:rPr lang="en-US" sz="2133" dirty="0" err="1"/>
              <a:t>작성</a:t>
            </a:r>
            <a:r>
              <a:rPr lang="en-US" sz="2133" dirty="0"/>
              <a:t>, </a:t>
            </a:r>
            <a:r>
              <a:rPr lang="en-US" sz="2133" dirty="0" err="1"/>
              <a:t>데이터</a:t>
            </a:r>
            <a:r>
              <a:rPr lang="en-US" sz="2133" dirty="0"/>
              <a:t> </a:t>
            </a:r>
            <a:r>
              <a:rPr lang="en-US" sz="2133" dirty="0" err="1"/>
              <a:t>흐름</a:t>
            </a:r>
            <a:r>
              <a:rPr lang="en-US" sz="2133" dirty="0"/>
              <a:t> </a:t>
            </a:r>
            <a:r>
              <a:rPr lang="en-US" sz="2133" dirty="0" err="1"/>
              <a:t>설계의</a:t>
            </a:r>
            <a:r>
              <a:rPr lang="en-US" sz="2133" dirty="0"/>
              <a:t> </a:t>
            </a:r>
            <a:r>
              <a:rPr lang="en-US" sz="2133" dirty="0" err="1"/>
              <a:t>복잡성</a:t>
            </a:r>
            <a:endParaRPr sz="2133" dirty="0"/>
          </a:p>
          <a:p>
            <a:pPr marL="0" indent="0"/>
            <a:r>
              <a:rPr lang="en-US" sz="2133" dirty="0" err="1"/>
              <a:t>해결:기능별</a:t>
            </a:r>
            <a:r>
              <a:rPr lang="en-US" sz="2133" dirty="0"/>
              <a:t> </a:t>
            </a:r>
            <a:r>
              <a:rPr lang="en-US" sz="2133" dirty="0" err="1"/>
              <a:t>데이터를</a:t>
            </a:r>
            <a:r>
              <a:rPr lang="en-US" sz="2133" dirty="0"/>
              <a:t> </a:t>
            </a:r>
            <a:r>
              <a:rPr lang="en-US" sz="2133" dirty="0" err="1"/>
              <a:t>분류하고</a:t>
            </a:r>
            <a:r>
              <a:rPr lang="en-US" sz="2133" dirty="0"/>
              <a:t> </a:t>
            </a:r>
            <a:r>
              <a:rPr lang="en-US" sz="2133" dirty="0" err="1"/>
              <a:t>관계를</a:t>
            </a:r>
            <a:r>
              <a:rPr lang="en-US" sz="2133" dirty="0"/>
              <a:t> </a:t>
            </a:r>
            <a:r>
              <a:rPr lang="en-US" sz="2133" dirty="0" err="1"/>
              <a:t>정리하여</a:t>
            </a:r>
            <a:r>
              <a:rPr lang="en-US" sz="2133" dirty="0"/>
              <a:t> DB </a:t>
            </a:r>
            <a:r>
              <a:rPr lang="en-US" sz="2133" dirty="0" err="1"/>
              <a:t>구조와</a:t>
            </a:r>
            <a:r>
              <a:rPr lang="en-US" sz="2133" dirty="0"/>
              <a:t> </a:t>
            </a:r>
            <a:r>
              <a:rPr lang="en-US" sz="2133" dirty="0" err="1"/>
              <a:t>데이터</a:t>
            </a:r>
            <a:r>
              <a:rPr lang="en-US" sz="2133" dirty="0"/>
              <a:t> </a:t>
            </a:r>
            <a:r>
              <a:rPr lang="en-US" sz="2133" dirty="0" err="1"/>
              <a:t>흐름</a:t>
            </a:r>
            <a:r>
              <a:rPr lang="en-US" sz="2133" dirty="0"/>
              <a:t> </a:t>
            </a:r>
            <a:r>
              <a:rPr lang="en-US" sz="2133" dirty="0" err="1"/>
              <a:t>명확화</a:t>
            </a:r>
            <a:r>
              <a:rPr lang="en-US" sz="2133" dirty="0"/>
              <a:t> </a:t>
            </a:r>
            <a:endParaRPr sz="2133" dirty="0"/>
          </a:p>
          <a:p>
            <a:pPr marL="0" indent="0"/>
            <a:endParaRPr sz="2133" dirty="0"/>
          </a:p>
        </p:txBody>
      </p:sp>
      <p:sp>
        <p:nvSpPr>
          <p:cNvPr id="345" name="Google Shape;345;g3eed64d507b_6_11"/>
          <p:cNvSpPr txBox="1">
            <a:spLocks noGrp="1"/>
          </p:cNvSpPr>
          <p:nvPr>
            <p:ph type="title"/>
          </p:nvPr>
        </p:nvSpPr>
        <p:spPr>
          <a:xfrm>
            <a:off x="177800" y="204417"/>
            <a:ext cx="10515600" cy="7520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r>
              <a:rPr lang="en-US" dirty="0" err="1"/>
              <a:t>트러블슈팅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923</Words>
  <Application>Microsoft Office PowerPoint</Application>
  <PresentationFormat>와이드스크린</PresentationFormat>
  <Paragraphs>252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Noto Sans Symbols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ERD설계</vt:lpstr>
      <vt:lpstr>ERD설계</vt:lpstr>
      <vt:lpstr>ERD 테스트용</vt:lpstr>
      <vt:lpstr>API 정의서</vt:lpstr>
      <vt:lpstr>API 정의서</vt:lpstr>
      <vt:lpstr>API 정의서</vt:lpstr>
      <vt:lpstr>UI 스케치 작성</vt:lpstr>
      <vt:lpstr>UI 스케치 작성</vt:lpstr>
      <vt:lpstr>UI 스케치 작성</vt:lpstr>
      <vt:lpstr>UI 스케치 작성</vt:lpstr>
      <vt:lpstr>UI 스케치 작성</vt:lpstr>
      <vt:lpstr>UI 스케치 작성</vt:lpstr>
      <vt:lpstr>팀 미션 역할 분담</vt:lpstr>
      <vt:lpstr>소스코드 저장소 주소(Github 주소)</vt:lpstr>
      <vt:lpstr> Walking Library 산출물</vt:lpstr>
      <vt:lpstr>트러블슈팅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오승헌</dc:creator>
  <cp:lastModifiedBy>오승헌</cp:lastModifiedBy>
  <cp:revision>1</cp:revision>
  <dcterms:created xsi:type="dcterms:W3CDTF">2026-06-12T06:23:21Z</dcterms:created>
  <dcterms:modified xsi:type="dcterms:W3CDTF">2026-06-12T06:28:07Z</dcterms:modified>
</cp:coreProperties>
</file>